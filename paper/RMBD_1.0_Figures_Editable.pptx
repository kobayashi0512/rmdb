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451305d6564b11" /><Relationship Type="http://schemas.openxmlformats.org/officeDocument/2006/relationships/extended-properties" Target="/docProps/app.xml" Id="Rf550dcdccf664445" /><Relationship Type="http://schemas.openxmlformats.org/officeDocument/2006/relationships/officeDocument" Target="/ppt/presentation.xml" Id="R85814ac4fa2a4c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e09bb93dd14480"/>
  </p:sldMasterIdLst>
  <p:notesMasterIdLst>
    <p:notesMasterId xmlns:r="http://schemas.openxmlformats.org/officeDocument/2006/relationships" r:id="Rde37d2b258a6471e"/>
  </p:notesMasterIdLst>
  <p:sldIdLst>
    <p:sldId xmlns:r="http://schemas.openxmlformats.org/officeDocument/2006/relationships" id="256" r:id="R0b926e1efa444605"/>
    <p:sldId xmlns:r="http://schemas.openxmlformats.org/officeDocument/2006/relationships" id="257" r:id="R2119a00bd8ba4a37"/>
    <p:sldId xmlns:r="http://schemas.openxmlformats.org/officeDocument/2006/relationships" id="258" r:id="R1a3a1f7dd2dd49df"/>
    <p:sldId xmlns:r="http://schemas.openxmlformats.org/officeDocument/2006/relationships" id="259" r:id="R997ed3b047a5459f"/>
    <p:sldId xmlns:r="http://schemas.openxmlformats.org/officeDocument/2006/relationships" id="260" r:id="Rfdb6cee0bc994705"/>
    <p:sldId xmlns:r="http://schemas.openxmlformats.org/officeDocument/2006/relationships" id="261" r:id="Rd01a27ef267946be"/>
  </p:sldIdLst>
  <p:sldSz cx="15240000" cy="952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9d6bb530434ee4" /><Relationship Type="http://schemas.openxmlformats.org/officeDocument/2006/relationships/slideMaster" Target="/ppt/slideMasters/slideMaster1.xml" Id="R08e09bb93dd14480" /><Relationship Type="http://schemas.openxmlformats.org/officeDocument/2006/relationships/notesMaster" Target="/ppt/notesMasters/notesMaster1.xml" Id="Rde37d2b258a6471e" /><Relationship Type="http://schemas.openxmlformats.org/officeDocument/2006/relationships/presProps" Target="/ppt/presProps.xml" Id="Rd496c0a979d14549" /><Relationship Type="http://schemas.openxmlformats.org/officeDocument/2006/relationships/tableStyles" Target="/ppt/tableStyles.xml" Id="R9d83b3c239fe494c" /><Relationship Type="http://schemas.openxmlformats.org/officeDocument/2006/relationships/slide" Target="/ppt/slides/slide1.xml" Id="R0b926e1efa444605" /><Relationship Type="http://schemas.openxmlformats.org/officeDocument/2006/relationships/slide" Target="/ppt/slides/slide2.xml" Id="R2119a00bd8ba4a37" /><Relationship Type="http://schemas.openxmlformats.org/officeDocument/2006/relationships/slide" Target="/ppt/slides/slide3.xml" Id="R1a3a1f7dd2dd49df" /><Relationship Type="http://schemas.openxmlformats.org/officeDocument/2006/relationships/slide" Target="/ppt/slides/slide4.xml" Id="R997ed3b047a5459f" /><Relationship Type="http://schemas.openxmlformats.org/officeDocument/2006/relationships/slide" Target="/ppt/slides/slide5.xml" Id="Rfdb6cee0bc994705" /><Relationship Type="http://schemas.openxmlformats.org/officeDocument/2006/relationships/slide" Target="/ppt/slides/slide6.xml" Id="Rd01a27ef267946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1acdc5e2d449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cf0d646fec4322" /><Relationship Type="http://schemas.openxmlformats.org/officeDocument/2006/relationships/notesMaster" Target="/ppt/notesMasters/notesMaster1.xml" Id="R32684fe513b043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f0536d84c5450b" /><Relationship Type="http://schemas.openxmlformats.org/officeDocument/2006/relationships/notesMaster" Target="/ppt/notesMasters/notesMaster1.xml" Id="R70f0d140098f45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d6836dd462404b" /><Relationship Type="http://schemas.openxmlformats.org/officeDocument/2006/relationships/notesMaster" Target="/ppt/notesMasters/notesMaster1.xml" Id="Rb9a3e8b16c414d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4ddc228afe4af7" /><Relationship Type="http://schemas.openxmlformats.org/officeDocument/2006/relationships/notesMaster" Target="/ppt/notesMasters/notesMaster1.xml" Id="Rbf5258e9c83247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fdef5514314ce4" /><Relationship Type="http://schemas.openxmlformats.org/officeDocument/2006/relationships/notesMaster" Target="/ppt/notesMasters/notesMaster1.xml" Id="Ra19a5c09958642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36ba6e075544c5" /><Relationship Type="http://schemas.openxmlformats.org/officeDocument/2006/relationships/notesMaster" Target="/ppt/notesMasters/notesMaster1.xml" Id="Re96b7a677c4a42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thumbnails are real local project images. FIVES/RAV/Fundus-AVSeg/CIMT/mBRSET: paper_concept/figures_real/assets/. AFIO: artifacts/afio_mendeley/vascx_anatomy/preprocessed_rgb/IM000001.png. STARE: artifacts/structure_migration/stare_vascx/preprocessed_rgb/im0103.png.</a:t>
            </a:r>
          </a:p>
          <a:p xmlns:a="http://schemas.openxmlformats.org/drawingml/2006/main">
            <a:r>
              <a:t>Study sizes and cohort roles: paper_integration_20260813/RMDB_BiRAP_数据整合_图表设计与论文大纲.md.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retinal images and processed maps are real local project outputs from paper_concept/figures_real/assets/f1_*.png.</a:t>
            </a:r>
          </a:p>
          <a:p xmlns:a="http://schemas.openxmlformats.org/drawingml/2006/main">
            <a:r>
              <a:t>Method definitions: scripts/extract_dual_readout_phenotypes.py; project protocols and manuscript Methods 2.3–2.6.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RAV image, reference, and frozen VascX output: /Users/tongyue/Documents/ppf/papers/baseline/artifacts/rav_vascx_full/preprocessed_rgb/RAV_795449.png, /Users/tongyue/Documents/ppf/papers/data/external/RAV/dataset/av_masks/RAV_795449.png, and archived logits rendered with the project color map. Fundus-AVSeg image, reference, and locked Mass-UDCT output: /Users/tongyue/Documents/ppf/papers/data/external/Fundus-AVSeg/Fundus-AVSeg/images/040_G.png, /Users/tongyue/Documents/ppf/papers/data/external/Fundus-AVSeg/Fundus-AVSeg/annotation/040_G.png, and /Users/tongyue/Documents/ppf/papers/baseline/artifacts/fundus_avseg_external_validation/predictions/mass_udct/040_G.png.</a:t>
            </a:r>
          </a:p>
          <a:p xmlns:a="http://schemas.openxmlformats.org/drawingml/2006/main">
            <a:r>
              <a:t>Exact measurement values: manuscript Table 2. Exact transport heatmaps: /Users/tongyue/Documents/ppf/papers/baseline/artifacts/four_cohort_transport/four_cohort_transport.png; pairwise values from pairwise_domain_transport.csv.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Same eye images: paper_concept/figures_real/assets/raw_primary.png and raw_repeat.png.</a:t>
            </a:r>
          </a:p>
          <a:p xmlns:a="http://schemas.openxmlformats.org/drawingml/2006/main">
            <a:r>
              <a:t>ICC values and confidence intervals: artifacts/mbrset_external/repeatability_core/repeatability_icc.csv.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Exact CIMT results: artifacts/cimt_dual_readout_development/outer_cv/metrics.json; artifacts/cimt_dual_readout_development/normative_e7/metrics.json; artifacts/cimt_dual_readout_development/e8_double_orthogonal/metrics.json; artifacts/cimt_dual_readout_validation/e9_locked/metrics.json; artifacts/e12_repeatability_gated_centile_full/metrics.json.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Exact calibrated mBRSET effects: artifacts/mbrset_external/cv_hypertension_reliable_core_calibration/metrics.json; artifacts/mbrset_external/cv_hypertension_reliable_core_calibration_no_dr/metrics.json; artifacts/mbrset_external/cv_hypertension_reliable_core_calibration_strict_disc/metrics.json.</a:t>
            </a:r>
          </a:p>
          <a:p xmlns:a="http://schemas.openxmlformats.org/drawingml/2006/main">
            <a:r>
              <a:t>Permutation control: artifacts/mbrset_external/permutation_negative_control/metrics.json.</a:t>
            </a:r>
          </a:p>
          <a:p xmlns:a="http://schemas.openxmlformats.org/drawingml/2006/main">
            <a:r>
              <a:t>Claim boundary: locked protocols and submission manuscript.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df3ec52bff46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9b900060884234" /><Relationship Type="http://schemas.openxmlformats.org/officeDocument/2006/relationships/slideLayout" Target="/ppt/slideLayouts/slideLayout1.xml" Id="R78fe5e39476246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fe5e39476246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76d75e48c40da" /><Relationship Type="http://schemas.openxmlformats.org/officeDocument/2006/relationships/image" Target="/ppt/media/image.png" Id="Raccb689f53144d79" /><Relationship Type="http://schemas.openxmlformats.org/officeDocument/2006/relationships/image" Target="/ppt/media/image2.png" Id="Rcb7d26010da94b50" /><Relationship Type="http://schemas.openxmlformats.org/officeDocument/2006/relationships/image" Target="/ppt/media/image3.png" Id="R2c99b6e6fc444dcc" /><Relationship Type="http://schemas.openxmlformats.org/officeDocument/2006/relationships/image" Target="/ppt/media/image4.png" Id="R4cf7f066758c48a0" /><Relationship Type="http://schemas.openxmlformats.org/officeDocument/2006/relationships/image" Target="/ppt/media/image5.png" Id="R1ee0162d93754370" /><Relationship Type="http://schemas.openxmlformats.org/officeDocument/2006/relationships/image" Target="/ppt/media/image6.png" Id="R018508e1bcb14059" /><Relationship Type="http://schemas.openxmlformats.org/officeDocument/2006/relationships/image" Target="/ppt/media/image7.png" Id="R3b494e3d77924207" /><Relationship Type="http://schemas.openxmlformats.org/officeDocument/2006/relationships/image" Target="/ppt/media/image8.png" Id="Ra6dbd542f0194a00" /><Relationship Type="http://schemas.openxmlformats.org/officeDocument/2006/relationships/image" Target="/ppt/media/image9.png" Id="Rdb7e06de25c3458a" /><Relationship Type="http://schemas.openxmlformats.org/officeDocument/2006/relationships/image" Target="/ppt/media/image10.png" Id="R37756d39947949dd" /><Relationship Type="http://schemas.openxmlformats.org/officeDocument/2006/relationships/notesSlide" Target="/ppt/notesSlides/notesSlide1.xml" Id="R7c066988741242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418c22be0342c4" /><Relationship Type="http://schemas.openxmlformats.org/officeDocument/2006/relationships/image" Target="/ppt/media/image11.png" Id="Rdb9db6f997264833" /><Relationship Type="http://schemas.openxmlformats.org/officeDocument/2006/relationships/image" Target="/ppt/media/image12.png" Id="R2e222da65e8244d7" /><Relationship Type="http://schemas.openxmlformats.org/officeDocument/2006/relationships/image" Target="/ppt/media/image13.png" Id="Rea57b256955f44b0" /><Relationship Type="http://schemas.openxmlformats.org/officeDocument/2006/relationships/image" Target="/ppt/media/image14.png" Id="R089aa950159041ff" /><Relationship Type="http://schemas.openxmlformats.org/officeDocument/2006/relationships/image" Target="/ppt/media/image15.png" Id="Rf40d395f9d494f13" /><Relationship Type="http://schemas.openxmlformats.org/officeDocument/2006/relationships/image" Target="/ppt/media/image16.png" Id="Rcc49778bfae64c03" /><Relationship Type="http://schemas.openxmlformats.org/officeDocument/2006/relationships/image" Target="/ppt/media/image17.png" Id="Rcf82e7d611f04d06" /><Relationship Type="http://schemas.openxmlformats.org/officeDocument/2006/relationships/image" Target="/ppt/media/image18.png" Id="R8a1a7c1b2982407e" /><Relationship Type="http://schemas.openxmlformats.org/officeDocument/2006/relationships/image" Target="/ppt/media/image19.png" Id="R182753d8d5f14ce5" /><Relationship Type="http://schemas.openxmlformats.org/officeDocument/2006/relationships/notesSlide" Target="/ppt/notesSlides/notesSlide2.xml" Id="R894044961e134f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727f4a58a4f12" /><Relationship Type="http://schemas.openxmlformats.org/officeDocument/2006/relationships/image" Target="/ppt/media/image20.png" Id="Rfc51f1c614914665" /><Relationship Type="http://schemas.openxmlformats.org/officeDocument/2006/relationships/image" Target="/ppt/media/image21.png" Id="R221c0b8250104413" /><Relationship Type="http://schemas.openxmlformats.org/officeDocument/2006/relationships/image" Target="/ppt/media/image22.png" Id="Re763c68bd7dc43f2" /><Relationship Type="http://schemas.openxmlformats.org/officeDocument/2006/relationships/image" Target="/ppt/media/image23.png" Id="Rf66a01c742194379" /><Relationship Type="http://schemas.openxmlformats.org/officeDocument/2006/relationships/image" Target="/ppt/media/image24.png" Id="Rfb915f8a93f043c8" /><Relationship Type="http://schemas.openxmlformats.org/officeDocument/2006/relationships/image" Target="/ppt/media/image25.png" Id="R4eb7c27ebcf34fcb" /><Relationship Type="http://schemas.openxmlformats.org/officeDocument/2006/relationships/image" Target="/ppt/media/image26.png" Id="Rb028b0fb8f5f49e8" /><Relationship Type="http://schemas.openxmlformats.org/officeDocument/2006/relationships/notesSlide" Target="/ppt/notesSlides/notesSlide3.xml" Id="R202c180456c74d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30cca5a9e43ba" /><Relationship Type="http://schemas.openxmlformats.org/officeDocument/2006/relationships/image" Target="/ppt/media/image27.png" Id="R27c0cf906f1d434d" /><Relationship Type="http://schemas.openxmlformats.org/officeDocument/2006/relationships/image" Target="/ppt/media/image28.png" Id="R33a83d60bd174604" /><Relationship Type="http://schemas.openxmlformats.org/officeDocument/2006/relationships/notesSlide" Target="/ppt/notesSlides/notesSlide4.xml" Id="R7f2a186cf49b49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f8be905564923" /><Relationship Type="http://schemas.openxmlformats.org/officeDocument/2006/relationships/notesSlide" Target="/ppt/notesSlides/notesSlide5.xml" Id="R391d44ea1c5f4b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0fe68787af4667" /><Relationship Type="http://schemas.openxmlformats.org/officeDocument/2006/relationships/notesSlide" Target="/ppt/notesSlides/notesSlide6.xml" Id="R35a63151928848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kicker">
            <a:extLst xmlns:a="http://schemas.openxmlformats.org/drawingml/2006/main">
              <a:ext uri="{FF2B5EF4-FFF2-40B4-BE49-F238E27FC236}">
                <a16:creationId xmlns:a16="http://schemas.microsoft.com/office/drawing/2014/main" id="{8EC0CC1A-D79E-46A3-930C-CCF7AA89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80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B806B"/>
                </a:solidFill>
                <a:latin typeface="Arial"/>
                <a:ea typeface="Arial"/>
                <a:cs typeface="Arial"/>
              </a:rPr>
              <a:t>FIGURE 1 · STUDY LOGIC</a:t>
            </a:r>
          </a:p>
        </p:txBody>
      </p:sp>
      <p:sp>
        <p:nvSpPr>
          <p:cNvPr id="2" name="figure-title">
            <a:extLst xmlns:a="http://schemas.openxmlformats.org/drawingml/2006/main">
              <a:ext uri="{FF2B5EF4-FFF2-40B4-BE49-F238E27FC236}">
                <a16:creationId xmlns:a16="http://schemas.microsoft.com/office/drawing/2014/main" id="{5F215C7D-263D-4236-99D3-B7D768DF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400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B5B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B5B4A"/>
                </a:solidFill>
                <a:latin typeface="Arial"/>
                <a:ea typeface="Arial"/>
                <a:cs typeface="Arial"/>
              </a:rPr>
              <a:t>A good vessel mask can still produce a bad biomarker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9D1FE76-C118-45AF-B877-279C9386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4058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C7AE"/>
            </a:solidFill>
            <a:prstDash val="solid"/>
          </a:ln>
        </p:spPr>
      </p:sp>
      <p:sp>
        <p:nvSpPr>
          <p:cNvPr id="4" name="panel-A">
            <a:extLst xmlns:a="http://schemas.openxmlformats.org/drawingml/2006/main">
              <a:ext uri="{FF2B5EF4-FFF2-40B4-BE49-F238E27FC236}">
                <a16:creationId xmlns:a16="http://schemas.microsoft.com/office/drawing/2014/main" id="{5AB04A2D-14CC-438C-B81A-965A3F1F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5B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B5B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" name="panel-title-A">
            <a:extLst xmlns:a="http://schemas.openxmlformats.org/drawingml/2006/main">
              <a:ext uri="{FF2B5EF4-FFF2-40B4-BE49-F238E27FC236}">
                <a16:creationId xmlns:a16="http://schemas.microsoft.com/office/drawing/2014/main" id="{81F0BEEE-3CB1-4970-81D2-98ED4BA7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811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The overlooked contradiction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DE8ED9-494A-4A18-88B6-E25B71A5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1462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B806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9FF91-0455-4442-95A6-AEC04169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71462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B806B"/>
            </a:solidFill>
            <a:prstDash val="solid"/>
          </a:ln>
        </p:spPr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cb689f53144d79"/>
          <a:srcRect xmlns:a="http://schemas.openxmlformats.org/drawingml/2006/main" l="0" t="5357" r="0" b="53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" y="1924050"/>
            <a:ext cx="2667000" cy="23812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7d26010da94b50"/>
          <a:srcRect xmlns:a="http://schemas.openxmlformats.org/drawingml/2006/main" l="0" t="5357" r="0" b="53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81600" y="1924050"/>
            <a:ext cx="2667000" cy="23812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99b6e6fc444dcc"/>
          <a:srcRect xmlns:a="http://schemas.openxmlformats.org/drawingml/2006/main" l="0" t="5357" r="0" b="53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10725" y="1924050"/>
            <a:ext cx="2667000" cy="23812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5C06C5-DC50-4AA7-9804-22F90643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97C7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7C70"/>
                </a:solidFill>
                <a:latin typeface="Arial"/>
                <a:ea typeface="Arial"/>
                <a:cs typeface="Arial"/>
              </a:rPr>
              <a:t>1  Pixel validity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EA6FF0-A91B-4908-A824-29085779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Can arteries and veins be measured</a:t>
            </a:r>
          </a:p>
          <a:p xmlns:a="http://schemas.openxmlformats.org/drawingml/2006/main">
            <a:pPr algn="ctr">
              <a:defRPr sz="1125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in a new image domain?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3BD884-852F-48D1-88E7-26B45B4A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381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F8E8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8E83"/>
                </a:solidFill>
                <a:latin typeface="Arial"/>
                <a:ea typeface="Arial"/>
                <a:cs typeface="Arial"/>
              </a:rPr>
              <a:t>2  Repeatable phenotype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5F42DD-B0F2-48E0-87D9-8E8BB2A3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7053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Does the number survive a second</a:t>
            </a:r>
          </a:p>
          <a:p xmlns:a="http://schemas.openxmlformats.org/drawingml/2006/main">
            <a:pPr algn="ctr">
              <a:defRPr sz="1125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photograph of the same eye?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F44EC8-72C3-42D6-B588-2D406999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381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A982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9823B"/>
                </a:solidFill>
                <a:latin typeface="Arial"/>
                <a:ea typeface="Arial"/>
                <a:cs typeface="Arial"/>
              </a:rPr>
              <a:t>3  Clinical increment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A3945D-E477-4F7C-B4D9-D8B8BC79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7053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Does it add information beyond</a:t>
            </a:r>
          </a:p>
          <a:p xmlns:a="http://schemas.openxmlformats.org/drawingml/2006/main">
            <a:pPr algn="ctr">
              <a:defRPr sz="1125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age, sex, and standard covariates?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FFE1DA-1B29-47A5-9D06-9C10B795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1952625"/>
            <a:ext cx="1952625" cy="2333625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3E4DD"/>
          </a:solidFill>
          <a:ln xmlns:a="http://schemas.openxmlformats.org/drawingml/2006/main" w="19050">
            <a:solidFill>
              <a:srgbClr val="9B4A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85EBBE-1AEA-4305-9F4B-34CC66FC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286000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98111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B4A3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9B4A3C"/>
                </a:solidFill>
                <a:latin typeface="Arial"/>
                <a:ea typeface="Arial"/>
                <a:cs typeface="Arial"/>
              </a:rPr>
              <a:t>GATES CANNOT</a:t>
            </a:r>
          </a:p>
          <a:p xmlns:a="http://schemas.openxmlformats.org/drawingml/2006/main">
            <a:pPr algn="ctr">
              <a:defRPr sz="1650" b="1">
                <a:solidFill>
                  <a:srgbClr val="9B4A3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9B4A3C"/>
                </a:solidFill>
                <a:latin typeface="Arial"/>
                <a:ea typeface="Arial"/>
                <a:cs typeface="Arial"/>
              </a:rPr>
              <a:t>SUBSTITUTE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2A3194-3874-40DA-96CB-50349B71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3143250"/>
            <a:ext cx="1666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Passing one gate</a:t>
            </a:r>
          </a:p>
          <a:p xmlns:a="http://schemas.openxmlformats.org/drawingml/2006/main">
            <a:pPr algn="ctr">
              <a:defRPr sz="1125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does not rescue</a:t>
            </a:r>
          </a:p>
          <a:p xmlns:a="http://schemas.openxmlformats.org/drawingml/2006/main">
            <a:pPr algn="ctr">
              <a:defRPr sz="1125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failure at another.</a:t>
            </a:r>
          </a:p>
        </p:txBody>
      </p:sp>
      <p:sp>
        <p:nvSpPr>
          <p:cNvPr id="20" name="panel-B">
            <a:extLst xmlns:a="http://schemas.openxmlformats.org/drawingml/2006/main">
              <a:ext uri="{FF2B5EF4-FFF2-40B4-BE49-F238E27FC236}">
                <a16:creationId xmlns:a16="http://schemas.microsoft.com/office/drawing/2014/main" id="{78A508B2-F11C-49ED-A2C2-A9EE94FF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864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5B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B5B4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1" name="panel-title-B">
            <a:extLst xmlns:a="http://schemas.openxmlformats.org/drawingml/2006/main">
              <a:ext uri="{FF2B5EF4-FFF2-40B4-BE49-F238E27FC236}">
                <a16:creationId xmlns:a16="http://schemas.microsoft.com/office/drawing/2014/main" id="{61F9ABCA-EA9F-4F35-8901-40F64DAF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86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7859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Seven retinal image resources, prespecified roles and boundaries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41870B-2CED-4D2F-B292-D2D65E56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62650"/>
            <a:ext cx="3429000" cy="12954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EF7"/>
          </a:solidFill>
          <a:ln xmlns:a="http://schemas.openxmlformats.org/drawingml/2006/main" w="19050">
            <a:solidFill>
              <a:srgbClr val="397C70"/>
            </a:solidFill>
            <a:prstDash val="solid"/>
          </a:ln>
        </p:spPr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f7f066758c48a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6076950"/>
            <a:ext cx="857250" cy="857250"/>
          </a:xfrm>
          <a:prstGeom xmlns:a="http://schemas.openxmlformats.org/drawingml/2006/main" prst="roundRect">
            <a:avLst>
              <a:gd name="adj" fmla="val 13333"/>
            </a:avLst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546D61-2E6D-408F-BD71-002EAA20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0579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FIVES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B0FE3B-E2B1-40F6-987A-F2C33EBA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3436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97C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97C70"/>
                </a:solidFill>
                <a:latin typeface="Arial"/>
                <a:ea typeface="Arial"/>
                <a:cs typeface="Arial"/>
              </a:rPr>
              <a:t>800 images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8F6BF4-A51E-4DFA-A5C1-F408F89C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591300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occupancy training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0B8754-726C-4B82-9E00-BE2ABDB1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905625"/>
            <a:ext cx="2228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C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8AFDC7-B27E-447F-BAC3-5E711709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896100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E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EF7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B78530-748B-45B2-BA4E-D2750AAD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962650"/>
            <a:ext cx="3429000" cy="12954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EF7"/>
          </a:solidFill>
          <a:ln xmlns:a="http://schemas.openxmlformats.org/drawingml/2006/main" w="19050">
            <a:solidFill>
              <a:srgbClr val="2F8E83"/>
            </a:solidFill>
            <a:prstDash val="solid"/>
          </a:ln>
        </p:spPr>
      </p:sp>
      <p:pic>
        <p:nvPicPr>
          <p:cNvPr id="1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e0162d9375437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1500" y="6076950"/>
            <a:ext cx="857250" cy="857250"/>
          </a:xfrm>
          <a:prstGeom xmlns:a="http://schemas.openxmlformats.org/drawingml/2006/main" prst="roundRect">
            <a:avLst>
              <a:gd name="adj" fmla="val 13333"/>
            </a:avLst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900125-CDE1-43B3-8A20-FC76056E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0579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RAV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C0C7D4-2028-45E2-896E-1FA80A30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3436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8E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8E83"/>
                </a:solidFill>
                <a:latin typeface="Arial"/>
                <a:ea typeface="Arial"/>
                <a:cs typeface="Arial"/>
              </a:rPr>
              <a:t>206 images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2E764B-B200-46CE-84AA-5261460F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91300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VascX audit + UDCT development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B56AB9-9033-4700-B2F4-85133911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905625"/>
            <a:ext cx="2228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E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4D1F9A-4E96-47C9-BB44-0A808EDE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96100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E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EF7"/>
                </a:solidFill>
                <a:latin typeface="Arial"/>
                <a:ea typeface="Arial"/>
                <a:cs typeface="Arial"/>
              </a:rPr>
              <a:t>DEVELOP / AUDIT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E60DE6-B3E8-43DD-9D09-EC148CD4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962650"/>
            <a:ext cx="3429000" cy="12954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EF7"/>
          </a:solidFill>
          <a:ln xmlns:a="http://schemas.openxmlformats.org/drawingml/2006/main" w="19050">
            <a:solidFill>
              <a:srgbClr val="9B4A3C"/>
            </a:solidFill>
            <a:prstDash val="solid"/>
          </a:ln>
        </p:spPr>
      </p:sp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8508e1bcb1405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81950" y="6076950"/>
            <a:ext cx="857250" cy="857250"/>
          </a:xfrm>
          <a:prstGeom xmlns:a="http://schemas.openxmlformats.org/drawingml/2006/main" prst="roundRect">
            <a:avLst>
              <a:gd name="adj" fmla="val 13333"/>
            </a:avLst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9CC252-91C7-4D89-B948-7E731A2C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0579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Fundus-AVSeg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D1A26A-9ED3-4997-A9A9-32E8C9CC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3436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B4A3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B4A3C"/>
                </a:solidFill>
                <a:latin typeface="Arial"/>
                <a:ea typeface="Arial"/>
                <a:cs typeface="Arial"/>
              </a:rPr>
              <a:t>100 eyes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DCACA2-A04E-4F52-B87C-3F20080C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591300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locked external test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C944936-0100-47A5-97BC-001C4CAE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905625"/>
            <a:ext cx="2228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4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DB2D4F8-D4C0-4F21-8ACD-99E2969F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896100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E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EF7"/>
                </a:solidFill>
                <a:latin typeface="Arial"/>
                <a:ea typeface="Arial"/>
                <a:cs typeface="Arial"/>
              </a:rPr>
              <a:t>LOCKED TEST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6D5DDD2-F632-4878-9508-7BD26124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5962650"/>
            <a:ext cx="3429000" cy="12954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EF7"/>
          </a:solidFill>
          <a:ln xmlns:a="http://schemas.openxmlformats.org/drawingml/2006/main" w="19050">
            <a:solidFill>
              <a:srgbClr val="A9823B"/>
            </a:solidFill>
            <a:prstDash val="solid"/>
          </a:ln>
        </p:spPr>
      </p:sp>
      <p:pic>
        <p:nvPicPr>
          <p:cNvPr id="1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494e3d7792420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82400" y="6076950"/>
            <a:ext cx="857250" cy="857250"/>
          </a:xfrm>
          <a:prstGeom xmlns:a="http://schemas.openxmlformats.org/drawingml/2006/main" prst="roundRect">
            <a:avLst>
              <a:gd name="adj" fmla="val 13333"/>
            </a:avLst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0AB1184-C35A-4F6C-B736-69F73607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60579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AFIO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7EEC33D-35D8-41A2-89DC-932C98F4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63436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823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823B"/>
                </a:solidFill>
                <a:latin typeface="Arial"/>
                <a:ea typeface="Arial"/>
                <a:cs typeface="Arial"/>
              </a:rPr>
              <a:t>100 images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B02D766-2172-463C-816D-87468233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6591300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external transport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818475E-298C-44F3-B45D-C16739CC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6905625"/>
            <a:ext cx="2228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0420AF4-1A9E-4B8D-AD77-ECCE7475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6896100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E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EF7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FAC1388-717D-45A1-AF64-A3B8BCEE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7524750"/>
            <a:ext cx="4438650" cy="12954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EF7"/>
          </a:solidFill>
          <a:ln xmlns:a="http://schemas.openxmlformats.org/drawingml/2006/main" w="19050">
            <a:solidFill>
              <a:srgbClr val="9B4A3C"/>
            </a:solidFill>
            <a:prstDash val="solid"/>
          </a:ln>
        </p:spPr>
      </p:sp>
      <p:pic>
        <p:nvPicPr>
          <p:cNvPr id="1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dbd542f0194a0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85925" y="7639050"/>
            <a:ext cx="857250" cy="857250"/>
          </a:xfrm>
          <a:prstGeom xmlns:a="http://schemas.openxmlformats.org/drawingml/2006/main" prst="roundRect">
            <a:avLst>
              <a:gd name="adj" fmla="val 13333"/>
            </a:avLst>
          </a:prstGeom>
        </p:spPr>
      </p:pic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3D93DC2-3559-4EED-A156-358776C6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76200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STARE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FDA7AFC-19D5-463B-89C5-9CC4F301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7905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B4A3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B4A3C"/>
                </a:solidFill>
                <a:latin typeface="Arial"/>
                <a:ea typeface="Arial"/>
                <a:cs typeface="Arial"/>
              </a:rPr>
              <a:t>397 images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760B122-6F71-4D4B-B8B8-BE0D9CE6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81534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frozen migration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5505477-C7F0-4031-B781-0D062000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8467725"/>
            <a:ext cx="3238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4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5ACBE3A-70DC-46BE-8724-8F2790AC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84582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E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EF7"/>
                </a:solidFill>
                <a:latin typeface="Arial"/>
                <a:ea typeface="Arial"/>
                <a:cs typeface="Arial"/>
              </a:rPr>
              <a:t>STRESS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262D32F-B1F1-4ABB-BFEC-A8217545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7524750"/>
            <a:ext cx="4438650" cy="12954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EF7"/>
          </a:solidFill>
          <a:ln xmlns:a="http://schemas.openxmlformats.org/drawingml/2006/main" w="19050">
            <a:solidFill>
              <a:srgbClr val="A9823B"/>
            </a:solidFill>
            <a:prstDash val="solid"/>
          </a:ln>
        </p:spPr>
      </p:sp>
      <p:pic>
        <p:nvPicPr>
          <p:cNvPr id="1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7e06de25c3458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96025" y="7639050"/>
            <a:ext cx="857250" cy="857250"/>
          </a:xfrm>
          <a:prstGeom xmlns:a="http://schemas.openxmlformats.org/drawingml/2006/main" prst="roundRect">
            <a:avLst>
              <a:gd name="adj" fmla="val 13333"/>
            </a:avLst>
          </a:prstGeom>
        </p:spPr>
      </p:pic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7125FF0-4D7F-4996-849A-F23AFF79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76200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China Fundus–CIMT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9396C47-5701-4DBB-A8E3-7D63E644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7905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823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823B"/>
                </a:solidFill>
                <a:latin typeface="Arial"/>
                <a:ea typeface="Arial"/>
                <a:cs typeface="Arial"/>
              </a:rPr>
              <a:t>2,603 + 200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F29FF71-2CE4-4426-8205-34DAEEA1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81534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development + lock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FB3B22E-5E3E-4F3B-BCFC-DBB918AD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8467725"/>
            <a:ext cx="3238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BEF3FEA-A4F6-4B7D-A038-7D508CDF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84582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E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EF7"/>
                </a:solidFill>
                <a:latin typeface="Arial"/>
                <a:ea typeface="Arial"/>
                <a:cs typeface="Arial"/>
              </a:rPr>
              <a:t>DEVELOP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16895E7-493C-478A-9C2A-0FF8BA4C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7524750"/>
            <a:ext cx="4438650" cy="12954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EF7"/>
          </a:solidFill>
          <a:ln xmlns:a="http://schemas.openxmlformats.org/drawingml/2006/main" w="19050">
            <a:solidFill>
              <a:srgbClr val="4B806B"/>
            </a:solidFill>
            <a:prstDash val="solid"/>
          </a:ln>
        </p:spPr>
      </p:sp>
      <p:pic>
        <p:nvPicPr>
          <p:cNvPr id="1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756d39947949d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06125" y="7639050"/>
            <a:ext cx="857250" cy="857250"/>
          </a:xfrm>
          <a:prstGeom xmlns:a="http://schemas.openxmlformats.org/drawingml/2006/main" prst="roundRect">
            <a:avLst>
              <a:gd name="adj" fmla="val 13333"/>
            </a:avLst>
          </a:prstGeom>
        </p:spPr>
      </p:pic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9EC1A04-6B25-49E6-AE2C-A55D2277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76200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mBRSET mirror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65CE5B1-5AA3-4FE7-BC34-1601C42F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7905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B80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B806B"/>
                </a:solidFill>
                <a:latin typeface="Arial"/>
                <a:ea typeface="Arial"/>
                <a:cs typeface="Arial"/>
              </a:rPr>
              <a:t>1,287 patients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EEE09A4-0B08-4196-92F8-FC07B43C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81534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repeatability + proxy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DC61F1C-4BE4-4D12-BAE3-CD0F2F78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8467725"/>
            <a:ext cx="3238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73CF692-8D9C-4CE7-BDDC-D90B2447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84582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E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EF7"/>
                </a:solidFill>
                <a:latin typeface="Arial"/>
                <a:ea typeface="Arial"/>
                <a:cs typeface="Arial"/>
              </a:rPr>
              <a:t>AUDIT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B8C7E47-959B-43FA-9791-A4D7E7D4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8982075"/>
            <a:ext cx="11144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8E7D5"/>
          </a:solidFill>
          <a:ln xmlns:a="http://schemas.openxmlformats.org/drawingml/2006/main" w="19050">
            <a:solidFill>
              <a:srgbClr val="A8C7AE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EB66EE7-144B-49F6-A3A2-A6A90090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9001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B5B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B5B4A"/>
                </a:solidFill>
                <a:latin typeface="Arial"/>
                <a:ea typeface="Arial"/>
                <a:cs typeface="Arial"/>
              </a:rPr>
              <a:t>Role firewall: Fundus-AVSeg is the locked external UDCT test; reliability is fixed before outcomes.</a:t>
            </a:r>
          </a:p>
        </p:txBody>
      </p:sp>
    </p:spTree>
    <p:extLst>
      <p:ext uri="{BB962C8B-B14F-4D97-AF65-F5344CB8AC3E}">
        <p14:creationId xmlns:p14="http://schemas.microsoft.com/office/powerpoint/2010/main" val="9162246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E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kicker">
            <a:extLst xmlns:a="http://schemas.openxmlformats.org/drawingml/2006/main">
              <a:ext uri="{FF2B5EF4-FFF2-40B4-BE49-F238E27FC236}">
                <a16:creationId xmlns:a16="http://schemas.microsoft.com/office/drawing/2014/main" id="{5B0B78D2-8721-4FED-9CCA-77781FBA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80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B806B"/>
                </a:solidFill>
                <a:latin typeface="Arial"/>
                <a:ea typeface="Arial"/>
                <a:cs typeface="Arial"/>
              </a:rPr>
              <a:t>FIGURE 2 · CORE ALGORITHM</a:t>
            </a:r>
          </a:p>
        </p:txBody>
      </p:sp>
      <p:sp>
        <p:nvSpPr>
          <p:cNvPr id="2" name="figure-title">
            <a:extLst xmlns:a="http://schemas.openxmlformats.org/drawingml/2006/main">
              <a:ext uri="{FF2B5EF4-FFF2-40B4-BE49-F238E27FC236}">
                <a16:creationId xmlns:a16="http://schemas.microsoft.com/office/drawing/2014/main" id="{BAC0EA4B-5168-4B04-85B6-7723E048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400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B5B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B5B4A"/>
                </a:solidFill>
                <a:latin typeface="Arial"/>
                <a:ea typeface="Arial"/>
                <a:cs typeface="Arial"/>
              </a:rPr>
              <a:t>RMDB–BiRAP separates vascular existence from vascular identity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3CB1A0B-EF43-447C-B7D9-2A43F4A2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4058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C7AE"/>
            </a:solidFill>
            <a:prstDash val="solid"/>
          </a:ln>
        </p:spPr>
      </p:sp>
      <p:sp>
        <p:nvSpPr>
          <p:cNvPr id="4" name="panel-A">
            <a:extLst xmlns:a="http://schemas.openxmlformats.org/drawingml/2006/main">
              <a:ext uri="{FF2B5EF4-FFF2-40B4-BE49-F238E27FC236}">
                <a16:creationId xmlns:a16="http://schemas.microsoft.com/office/drawing/2014/main" id="{8C89F8D5-BAF6-41DD-A830-E624C67A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5B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B5B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" name="panel-title-A">
            <a:extLst xmlns:a="http://schemas.openxmlformats.org/drawingml/2006/main">
              <a:ext uri="{FF2B5EF4-FFF2-40B4-BE49-F238E27FC236}">
                <a16:creationId xmlns:a16="http://schemas.microsoft.com/office/drawing/2014/main" id="{50D834C8-7866-42AD-A467-D3CA1FE7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525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Real image → anatomy standardized inputs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813625-AF8C-4CF0-8475-3D8A5F4E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09875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B806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94B52-10AB-4E09-AD7B-6DB13ACB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809875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B80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BF32A1-555C-4B21-A645-99E22684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9875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B806B"/>
            </a:solidFill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9db6f99726483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1809750"/>
            <a:ext cx="1952625" cy="1952625"/>
          </a:xfrm>
          <a:prstGeom xmlns:a="http://schemas.openxmlformats.org/drawingml/2006/main" prst="roundRect">
            <a:avLst>
              <a:gd name="adj" fmla="val 5854"/>
            </a:avLst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222da65e8244d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00425" y="1809750"/>
            <a:ext cx="1952625" cy="1952625"/>
          </a:xfrm>
          <a:prstGeom xmlns:a="http://schemas.openxmlformats.org/drawingml/2006/main" prst="roundRect">
            <a:avLst>
              <a:gd name="adj" fmla="val 5854"/>
            </a:avLst>
          </a:prstGeom>
        </p:spPr>
      </p:pic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57b256955f44b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19800" y="1809750"/>
            <a:ext cx="1952625" cy="1952625"/>
          </a:xfrm>
          <a:prstGeom xmlns:a="http://schemas.openxmlformats.org/drawingml/2006/main" prst="roundRect">
            <a:avLst>
              <a:gd name="adj" fmla="val 5854"/>
            </a:avLst>
          </a:prstGeom>
        </p:spPr>
      </p:pic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9aa950159041f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39175" y="1809750"/>
            <a:ext cx="1952625" cy="1952625"/>
          </a:xfrm>
          <a:prstGeom xmlns:a="http://schemas.openxmlformats.org/drawingml/2006/main" prst="roundRect">
            <a:avLst>
              <a:gd name="adj" fmla="val 5854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D417F1-5950-4189-A7E3-7C7C0B1E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3857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Raw photograph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CF3929-6B97-4CDC-945F-964800CA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83857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Standardization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96AA8D-88D1-4081-ACC2-88B6C303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3857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Disc–fovea frame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7750D2-FA30-4B8C-8673-082E21F8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83857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Enhanced anatomy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8B1CDC-ADA2-4BC4-8B11-983C1DFB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95450"/>
            <a:ext cx="34290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EDF3E9"/>
          </a:solidFill>
          <a:ln xmlns:a="http://schemas.openxmlformats.org/drawingml/2006/main" w="19050">
            <a:solidFill>
              <a:srgbClr val="A8C7A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DD58C7-3700-4CC1-8FF1-C75EC69A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185737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B5B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B5B4A"/>
                </a:solidFill>
                <a:latin typeface="Arial"/>
                <a:ea typeface="Arial"/>
                <a:cs typeface="Arial"/>
              </a:rPr>
              <a:t>UDCT residual corrector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583F77-EC73-4E67-B3F7-FB640524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324100"/>
            <a:ext cx="289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Inputs: </a:t>
            </a:r>
            <a:r>
              <a:rPr sz="1350">
                <a:solidFill>
                  <a:srgbClr val="263A31"/>
                </a:solidFill>
                <a:latin typeface="Arial"/>
                <a:ea typeface="Arial"/>
                <a:cs typeface="Arial"/>
              </a:rPr>
              <a:t>RGB + frozen logits + entropy + Hessian direction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48E4AA-22E0-4A97-B0EB-38664734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095625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Two residual steps refine identity without retraining the upstream segmenter.</a:t>
            </a:r>
          </a:p>
        </p:txBody>
      </p:sp>
      <p:sp>
        <p:nvSpPr>
          <p:cNvPr id="21" name="panel-B">
            <a:extLst xmlns:a="http://schemas.openxmlformats.org/drawingml/2006/main">
              <a:ext uri="{FF2B5EF4-FFF2-40B4-BE49-F238E27FC236}">
                <a16:creationId xmlns:a16="http://schemas.microsoft.com/office/drawing/2014/main" id="{8814AB01-0015-4E14-8A85-02A0E7DB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529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5B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B5B4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2" name="panel-title-B">
            <a:extLst xmlns:a="http://schemas.openxmlformats.org/drawingml/2006/main">
              <a:ext uri="{FF2B5EF4-FFF2-40B4-BE49-F238E27FC236}">
                <a16:creationId xmlns:a16="http://schemas.microsoft.com/office/drawing/2014/main" id="{51927903-0577-476E-95C7-9C2ACCF2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529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8957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Dual readout and anatomy-aware phenotype construction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16FFEC-5D0B-42A3-B693-0C54358D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229350"/>
            <a:ext cx="847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8E8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B80AA6-778B-4438-8F51-94F2AA7A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7143750"/>
            <a:ext cx="847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B806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74AE7A-87CF-45DA-B53A-F4D10885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6229350"/>
            <a:ext cx="933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8E8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D64925-3589-4C3B-8D99-5B3115FE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7143750"/>
            <a:ext cx="933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B806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D327B1-E35E-4AA8-A4C5-9CBE7E18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2293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9823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2C127B-6AFD-40D0-8763-01F36C80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1437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9823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33C9D6-B23A-484F-9D57-C7BCF51E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686550"/>
            <a:ext cx="828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B806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135578-5CE8-4E6D-B6F5-E030838D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81625"/>
            <a:ext cx="2095500" cy="22669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DF3E9"/>
          </a:solidFill>
          <a:ln xmlns:a="http://schemas.openxmlformats.org/drawingml/2006/main" w="19050">
            <a:solidFill>
              <a:srgbClr val="A8C7A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F8C4AE-9A5B-4EAA-89EF-5CCCCCE3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B5B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B5B4A"/>
                </a:solidFill>
                <a:latin typeface="Arial"/>
                <a:ea typeface="Arial"/>
                <a:cs typeface="Arial"/>
              </a:rPr>
              <a:t>Frozen readouts</a:t>
            </a:r>
          </a:p>
        </p:txBody>
      </p:sp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0d395f9d494f1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4875" y="5953125"/>
            <a:ext cx="781050" cy="781050"/>
          </a:xfrm>
          <a:prstGeom xmlns:a="http://schemas.openxmlformats.org/drawingml/2006/main" prst="roundRect">
            <a:avLst>
              <a:gd name="adj" fmla="val 14634"/>
            </a:avLst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8B75B2-0C2C-4074-AA63-B87CE52D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6115050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E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8E83"/>
                </a:solidFill>
                <a:latin typeface="Arial"/>
                <a:ea typeface="Arial"/>
                <a:cs typeface="Arial"/>
              </a:rPr>
              <a:t>P(vessel)</a:t>
            </a:r>
          </a:p>
        </p:txBody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49778bfae64c0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4875" y="6848475"/>
            <a:ext cx="781050" cy="781050"/>
          </a:xfrm>
          <a:prstGeom xmlns:a="http://schemas.openxmlformats.org/drawingml/2006/main" prst="roundRect">
            <a:avLst>
              <a:gd name="adj" fmla="val 14634"/>
            </a:avLst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1FF494-7C5F-4117-9D10-FC011F98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695325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B80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B806B"/>
                </a:solidFill>
                <a:latin typeface="Arial"/>
                <a:ea typeface="Arial"/>
                <a:cs typeface="Arial"/>
              </a:rPr>
              <a:t>A / V / crossing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CD5D0F-606B-4336-929C-409700D1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429250"/>
            <a:ext cx="211455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2E8CC"/>
          </a:solidFill>
          <a:ln xmlns:a="http://schemas.openxmlformats.org/drawingml/2006/main" w="19050">
            <a:solidFill>
              <a:srgbClr val="A9823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557CEE-4148-4ADD-BCF0-3135DD3E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57212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9823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9823B"/>
                </a:solidFill>
                <a:latin typeface="Arial"/>
                <a:ea typeface="Arial"/>
                <a:cs typeface="Arial"/>
              </a:rPr>
              <a:t>Mass preserving</a:t>
            </a:r>
          </a:p>
        </p:txBody>
      </p:sp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82e7d611f04d0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48150" y="5943600"/>
            <a:ext cx="952500" cy="952500"/>
          </a:xfrm>
          <a:prstGeom xmlns:a="http://schemas.openxmlformats.org/drawingml/2006/main" prst="roundRect">
            <a:avLst>
              <a:gd name="adj" fmla="val 12000"/>
            </a:avLst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BD8B5D-E31D-4FFF-8B92-34439940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68961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Weak vascular support retained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078CEA-47CA-431B-8CFD-97A22ADB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7334250"/>
            <a:ext cx="21145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DEFE9"/>
          </a:solidFill>
          <a:ln xmlns:a="http://schemas.openxmlformats.org/drawingml/2006/main" w="19050">
            <a:solidFill>
              <a:srgbClr val="2F8E8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204DB8-FA61-4A72-8349-468CAA5F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745807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F8E8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8E83"/>
                </a:solidFill>
                <a:latin typeface="Arial"/>
                <a:ea typeface="Arial"/>
                <a:cs typeface="Arial"/>
              </a:rPr>
              <a:t>Factorized</a:t>
            </a:r>
          </a:p>
        </p:txBody>
      </p:sp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1a7c1b2982407e"/>
          <a:srcRect xmlns:a="http://schemas.openxmlformats.org/drawingml/2006/main" l="0" t="5102" r="0" b="51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57675" y="7800975"/>
            <a:ext cx="933450" cy="838200"/>
          </a:xfrm>
          <a:prstGeom xmlns:a="http://schemas.openxmlformats.org/drawingml/2006/main" prst="roundRect">
            <a:avLst>
              <a:gd name="adj" fmla="val 13636"/>
            </a:avLst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3221F78-06E4-4CC2-99DA-8070D68B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429250"/>
            <a:ext cx="212407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F3E9"/>
          </a:solidFill>
          <a:ln xmlns:a="http://schemas.openxmlformats.org/drawingml/2006/main" w="19050">
            <a:solidFill>
              <a:srgbClr val="A8C7A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E92FE82-7790-4576-ADDF-DAEE25CD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572125"/>
            <a:ext cx="1800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87721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B5B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B5B4A"/>
                </a:solidFill>
                <a:latin typeface="Arial"/>
                <a:ea typeface="Arial"/>
                <a:cs typeface="Arial"/>
              </a:rPr>
              <a:t>Phenotype operators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9CAF6E6-785F-402A-B0D2-CB60B35D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981700"/>
            <a:ext cx="1666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A31"/>
                </a:solidFill>
                <a:latin typeface="Arial"/>
                <a:ea typeface="Arial"/>
                <a:cs typeface="Arial"/>
              </a:rPr>
              <a:t>Vessel mass</a:t>
            </a:r>
          </a:p>
          <a:p xmlns:a="http://schemas.openxmlformats.org/drawingml/2006/main">
            <a:pPr algn="ctr">
              <a:defRPr sz="1350" b="0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A31"/>
                </a:solidFill>
                <a:latin typeface="Arial"/>
                <a:ea typeface="Arial"/>
                <a:cs typeface="Arial"/>
              </a:rPr>
              <a:t>Skeleton density</a:t>
            </a:r>
          </a:p>
          <a:p xmlns:a="http://schemas.openxmlformats.org/drawingml/2006/main">
            <a:pPr algn="ctr">
              <a:defRPr sz="1350" b="0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A31"/>
                </a:solidFill>
                <a:latin typeface="Arial"/>
                <a:ea typeface="Arial"/>
                <a:cs typeface="Arial"/>
              </a:rPr>
              <a:t>A/V balance</a:t>
            </a:r>
          </a:p>
          <a:p xmlns:a="http://schemas.openxmlformats.org/drawingml/2006/main">
            <a:pPr algn="ctr">
              <a:defRPr sz="1350" b="0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A31"/>
                </a:solidFill>
                <a:latin typeface="Arial"/>
                <a:ea typeface="Arial"/>
                <a:cs typeface="Arial"/>
              </a:rPr>
              <a:t>Entropy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E68CA3-A1E7-4278-B5E1-CD2A3534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7334250"/>
            <a:ext cx="2124075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E4DD"/>
          </a:solidFill>
          <a:ln xmlns:a="http://schemas.openxmlformats.org/drawingml/2006/main" w="19050">
            <a:solidFill>
              <a:srgbClr val="9B4A3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4890712-331A-433A-ABDF-0E785D75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7458075"/>
            <a:ext cx="1800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73417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B4A3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9B4A3C"/>
                </a:solidFill>
                <a:latin typeface="Arial"/>
                <a:ea typeface="Arial"/>
                <a:cs typeface="Arial"/>
              </a:rPr>
              <a:t>Readout agreement audit</a:t>
            </a:r>
          </a:p>
        </p:txBody>
      </p:sp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2753d8d5f14ce5"/>
          <a:srcRect xmlns:a="http://schemas.openxmlformats.org/drawingml/2006/main" l="0" t="5682" r="0" b="56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62825" y="7848600"/>
            <a:ext cx="838200" cy="742950"/>
          </a:xfrm>
          <a:prstGeom xmlns:a="http://schemas.openxmlformats.org/drawingml/2006/main" prst="roundRect">
            <a:avLst>
              <a:gd name="adj" fmla="val 15385"/>
            </a:avLst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82DC82E-F1DB-499E-A6FB-A676FBA7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429250"/>
            <a:ext cx="2190750" cy="31908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F3E9"/>
          </a:solidFill>
          <a:ln xmlns:a="http://schemas.openxmlformats.org/drawingml/2006/main" w="19050">
            <a:solidFill>
              <a:srgbClr val="4B806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06ACA5D-D975-4F9B-B6D0-DC5F6680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6007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87121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B5B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B5B4A"/>
                </a:solidFill>
                <a:latin typeface="Arial"/>
                <a:ea typeface="Arial"/>
                <a:cs typeface="Arial"/>
              </a:rPr>
              <a:t>BiRAP reliability gate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28B2226-92AC-4F69-86CE-CA8DE49E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6210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same eye repeats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B4FDB48-1C7E-4536-A9ED-C78AC705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65913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8E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8E83"/>
                </a:solidFill>
                <a:latin typeface="Arial"/>
                <a:ea typeface="Arial"/>
                <a:cs typeface="Arial"/>
              </a:rPr>
              <a:t>ICC(1,1) ≥ 0.60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3307945-A5E6-47C3-A2E6-9118D4BA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7124700"/>
            <a:ext cx="166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C7A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B8861CE-C99A-4686-A6BE-DCFB97EE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7334250"/>
            <a:ext cx="171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Outcome blind</a:t>
            </a:r>
          </a:p>
          <a:p xmlns:a="http://schemas.openxmlformats.org/drawingml/2006/main">
            <a:pPr algn="ctr">
              <a:defRPr sz="1125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Retain 4 of 9</a:t>
            </a:r>
          </a:p>
          <a:p xmlns:a="http://schemas.openxmlformats.org/drawingml/2006/main">
            <a:pPr algn="ctr">
              <a:defRPr sz="1125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Freeze before labels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4B74995-0074-41E7-8832-EB17B8E8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5715000"/>
            <a:ext cx="1952625" cy="1952625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EF7"/>
          </a:solidFill>
          <a:ln xmlns:a="http://schemas.openxmlformats.org/drawingml/2006/main" w="19050">
            <a:solidFill>
              <a:srgbClr val="2B5B4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0AE4A5E-D212-4E78-9A9D-EE6EE6C6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905500"/>
            <a:ext cx="1666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B5B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B5B4A"/>
                </a:solidFill>
                <a:latin typeface="Arial"/>
                <a:ea typeface="Arial"/>
                <a:cs typeface="Arial"/>
              </a:rPr>
              <a:t>Patient vector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39D4BD4-17A0-45DE-BE81-B65B18E4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6429375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99415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63A31"/>
                </a:solidFill>
                <a:latin typeface="Arial"/>
                <a:ea typeface="Arial"/>
                <a:cs typeface="Arial"/>
              </a:rPr>
              <a:t>bilateral mean</a:t>
            </a:r>
          </a:p>
          <a:p xmlns:a="http://schemas.openxmlformats.org/drawingml/2006/main">
            <a:pPr algn="ctr">
              <a:defRPr sz="1425" b="0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63A31"/>
                </a:solidFill>
                <a:latin typeface="Arial"/>
                <a:ea typeface="Arial"/>
                <a:cs typeface="Arial"/>
              </a:rPr>
              <a:t>+ between eye difference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3E23576-08CD-4CD5-8747-CC162853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5805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A9823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9823B"/>
                </a:solidFill>
                <a:latin typeface="Arial"/>
                <a:ea typeface="Arial"/>
                <a:cs typeface="Arial"/>
              </a:rPr>
              <a:t>→ nested CV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B92499C-0F52-4C64-9311-5CC90684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7905750"/>
            <a:ext cx="1952625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F3E4DD"/>
          </a:solidFill>
          <a:ln xmlns:a="http://schemas.openxmlformats.org/drawingml/2006/main" w="19050">
            <a:solidFill>
              <a:srgbClr val="9B4A3C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D7AEA5D-D5F7-4862-81FE-21D7AAB0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8077200"/>
            <a:ext cx="166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B4A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B4A3C"/>
                </a:solidFill>
                <a:latin typeface="Arial"/>
                <a:ea typeface="Arial"/>
                <a:cs typeface="Arial"/>
              </a:rPr>
              <a:t>STOP if any gate fails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9495565-2712-4C0F-8B72-4A4A8A50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43975"/>
            <a:ext cx="1390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Existence ≠ identity; repeatability is estimated before outcome fitting.</a:t>
            </a:r>
          </a:p>
        </p:txBody>
      </p:sp>
    </p:spTree>
    <p:extLst>
      <p:ext uri="{BB962C8B-B14F-4D97-AF65-F5344CB8AC3E}">
        <p14:creationId xmlns:p14="http://schemas.microsoft.com/office/powerpoint/2010/main" val="7602903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kicker">
            <a:extLst xmlns:a="http://schemas.openxmlformats.org/drawingml/2006/main">
              <a:ext uri="{FF2B5EF4-FFF2-40B4-BE49-F238E27FC236}">
                <a16:creationId xmlns:a16="http://schemas.microsoft.com/office/drawing/2014/main" id="{36652E00-B1E6-42D8-8040-038BADC2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80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B806B"/>
                </a:solidFill>
                <a:latin typeface="Arial"/>
                <a:ea typeface="Arial"/>
                <a:cs typeface="Arial"/>
              </a:rPr>
              <a:t>FIGURE 3 · MEASUREMENT AND TRANSPORT</a:t>
            </a:r>
          </a:p>
        </p:txBody>
      </p:sp>
      <p:sp>
        <p:nvSpPr>
          <p:cNvPr id="2" name="figure-title">
            <a:extLst xmlns:a="http://schemas.openxmlformats.org/drawingml/2006/main">
              <a:ext uri="{FF2B5EF4-FFF2-40B4-BE49-F238E27FC236}">
                <a16:creationId xmlns:a16="http://schemas.microsoft.com/office/drawing/2014/main" id="{001B1798-C438-4A1F-AABF-59DA0583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400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B5B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B5B4A"/>
                </a:solidFill>
                <a:latin typeface="Arial"/>
                <a:ea typeface="Arial"/>
                <a:cs typeface="Arial"/>
              </a:rPr>
              <a:t>Measurement can pass while phenotype scales remain nonexchangeable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ABC9876-FA35-400B-97D1-A5CEC16B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4058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C7AE"/>
            </a:solidFill>
            <a:prstDash val="solid"/>
          </a:ln>
        </p:spPr>
      </p:sp>
      <p:sp>
        <p:nvSpPr>
          <p:cNvPr id="4" name="panel-A">
            <a:extLst xmlns:a="http://schemas.openxmlformats.org/drawingml/2006/main">
              <a:ext uri="{FF2B5EF4-FFF2-40B4-BE49-F238E27FC236}">
                <a16:creationId xmlns:a16="http://schemas.microsoft.com/office/drawing/2014/main" id="{38C84A52-FFDB-4407-9EA4-0326955A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716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5B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B5B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" name="panel-title-A">
            <a:extLst xmlns:a="http://schemas.openxmlformats.org/drawingml/2006/main">
              <a:ext uri="{FF2B5EF4-FFF2-40B4-BE49-F238E27FC236}">
                <a16:creationId xmlns:a16="http://schemas.microsoft.com/office/drawing/2014/main" id="{0F1AB283-9863-4B6D-9D32-B4B5ACC9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716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Dataset specific references and predictions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599CB-D46F-4C05-8C81-2276F993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680085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EF7"/>
          </a:solidFill>
          <a:ln xmlns:a="http://schemas.openxmlformats.org/drawingml/2006/main" w="19050">
            <a:solidFill>
              <a:srgbClr val="2F8E8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774EEB-BE99-4A80-A930-561447C8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6419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E8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E83"/>
                </a:solidFill>
                <a:latin typeface="Arial"/>
                <a:ea typeface="Arial"/>
                <a:cs typeface="Arial"/>
              </a:rPr>
              <a:t>RAV · frozen VascX audit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51f1c61491466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4875" y="2266950"/>
            <a:ext cx="1619250" cy="1619250"/>
          </a:xfrm>
          <a:prstGeom xmlns:a="http://schemas.openxmlformats.org/drawingml/2006/main" prst="roundRect">
            <a:avLst>
              <a:gd name="adj" fmla="val 7059"/>
            </a:avLst>
          </a:prstGeom>
        </p:spPr>
      </p:pic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1c0b825010441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52750" y="2266950"/>
            <a:ext cx="1619250" cy="1619250"/>
          </a:xfrm>
          <a:prstGeom xmlns:a="http://schemas.openxmlformats.org/drawingml/2006/main" prst="roundRect">
            <a:avLst>
              <a:gd name="adj" fmla="val 7059"/>
            </a:avLst>
          </a:prstGeom>
        </p:spPr>
      </p:pic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63c68bd7dc43f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00625" y="2266950"/>
            <a:ext cx="1619250" cy="1619250"/>
          </a:xfrm>
          <a:prstGeom xmlns:a="http://schemas.openxmlformats.org/drawingml/2006/main" prst="roundRect">
            <a:avLst>
              <a:gd name="adj" fmla="val 7059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9275A8-CA04-48D9-A78B-7453F251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05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real RGB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4C1B99-593E-4609-81F5-D2AE226D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05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reference mask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6CADD5-3825-4631-B01A-E2B785E0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905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frozen VascX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01FD9A-C580-4531-B99D-4B826C97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52600"/>
            <a:ext cx="680085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EF7"/>
          </a:solidFill>
          <a:ln xmlns:a="http://schemas.openxmlformats.org/drawingml/2006/main" w="19050">
            <a:solidFill>
              <a:srgbClr val="9B4A3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4181D0-B9A1-4C6D-8B22-AF294536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66900"/>
            <a:ext cx="6419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B4A3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9B4A3C"/>
                </a:solidFill>
                <a:latin typeface="Arial"/>
                <a:ea typeface="Arial"/>
                <a:cs typeface="Arial"/>
              </a:rPr>
              <a:t>Fundus-AVSeg · locked external UDCT test</a:t>
            </a:r>
          </a:p>
        </p:txBody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6a01c74219437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72425" y="2266950"/>
            <a:ext cx="1619250" cy="1619250"/>
          </a:xfrm>
          <a:prstGeom xmlns:a="http://schemas.openxmlformats.org/drawingml/2006/main" prst="roundRect">
            <a:avLst>
              <a:gd name="adj" fmla="val 7059"/>
            </a:avLst>
          </a:prstGeom>
        </p:spPr>
      </p:pic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915f8a93f043c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20300" y="2266950"/>
            <a:ext cx="1619250" cy="1619250"/>
          </a:xfrm>
          <a:prstGeom xmlns:a="http://schemas.openxmlformats.org/drawingml/2006/main" prst="roundRect">
            <a:avLst>
              <a:gd name="adj" fmla="val 7059"/>
            </a:avLst>
          </a:prstGeom>
        </p:spPr>
      </p:pic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b7c27ebcf34fc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068175" y="2266950"/>
            <a:ext cx="1619250" cy="1619250"/>
          </a:xfrm>
          <a:prstGeom xmlns:a="http://schemas.openxmlformats.org/drawingml/2006/main" prst="roundRect">
            <a:avLst>
              <a:gd name="adj" fmla="val 7059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6B8003-41E8-41E0-9091-6513BD7E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905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real RGB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54E374-47BF-4965-BFB6-31FCD8D5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905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reference mask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46A099-C212-4164-B6D8-18C8AC7E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3905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locked Mass-UDCT</a:t>
            </a:r>
          </a:p>
        </p:txBody>
      </p:sp>
      <p:sp>
        <p:nvSpPr>
          <p:cNvPr id="22" name="panel-B">
            <a:extLst xmlns:a="http://schemas.openxmlformats.org/drawingml/2006/main">
              <a:ext uri="{FF2B5EF4-FFF2-40B4-BE49-F238E27FC236}">
                <a16:creationId xmlns:a16="http://schemas.microsoft.com/office/drawing/2014/main" id="{DF20DCA0-0C2D-4F92-9778-2560BA7A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5B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B5B4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3" name="panel-title-B">
            <a:extLst xmlns:a="http://schemas.openxmlformats.org/drawingml/2006/main">
              <a:ext uri="{FF2B5EF4-FFF2-40B4-BE49-F238E27FC236}">
                <a16:creationId xmlns:a16="http://schemas.microsoft.com/office/drawing/2014/main" id="{A23F909B-A518-47E3-9052-32701E2B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720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Exact measurement performance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E2DE80-ADC6-4493-B396-A4BAE9B5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4762500" cy="3762375"/>
          </a:xfrm>
          <a:prstGeom xmlns:a="http://schemas.openxmlformats.org/drawingml/2006/main" prst="roundRect">
            <a:avLst>
              <a:gd name="adj" fmla="val 4557"/>
            </a:avLst>
          </a:prstGeom>
          <a:solidFill xmlns:a="http://schemas.openxmlformats.org/drawingml/2006/main">
            <a:srgbClr val="FFFEF7"/>
          </a:solidFill>
          <a:ln xmlns:a="http://schemas.openxmlformats.org/drawingml/2006/main" w="19050">
            <a:solidFill>
              <a:srgbClr val="C8C8B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874113-55E7-4C83-B0DD-A7E36D1F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435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Mean artery/vein Dice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DA2F83-7417-456D-9EBE-7339B808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63A31"/>
                </a:solidFill>
                <a:latin typeface="Arial"/>
                <a:ea typeface="Arial"/>
                <a:cs typeface="Arial"/>
              </a:rPr>
              <a:t>RAV · VascX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0D9AAE-8A25-45FC-A084-33580004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19800"/>
            <a:ext cx="400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9C97B0-DF2B-4E50-A321-4323C281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19800"/>
            <a:ext cx="366979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E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C2B54B-1A7A-4978-AB0B-A0B072F4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150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F8E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8E83"/>
                </a:solidFill>
                <a:latin typeface="Arial"/>
                <a:ea typeface="Arial"/>
                <a:cs typeface="Arial"/>
              </a:rPr>
              <a:t>0.8256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B5F77B-AF56-47C5-8A75-6A5D7E4A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362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63A31"/>
                </a:solidFill>
                <a:latin typeface="Arial"/>
                <a:ea typeface="Arial"/>
                <a:cs typeface="Arial"/>
              </a:rPr>
              <a:t>AVSeg · VascX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FA4667-E18C-4D39-BC1D-4966997F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667500"/>
            <a:ext cx="400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90A5A4-1CDC-42E2-9D3A-64898932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667500"/>
            <a:ext cx="246475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4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E3BA48-AE20-49E2-B9D2-1C482B9B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362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E746E"/>
                </a:solidFill>
                <a:latin typeface="Arial"/>
                <a:ea typeface="Arial"/>
                <a:cs typeface="Arial"/>
              </a:rPr>
              <a:t>0.5545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604F0E-11D9-48A8-B35A-74F257AE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10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63A31"/>
                </a:solidFill>
                <a:latin typeface="Arial"/>
                <a:ea typeface="Arial"/>
                <a:cs typeface="Arial"/>
              </a:rPr>
              <a:t>AVSeg · Mass-UDCT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B1943E-1F0F-421D-BA7B-685998F9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315200"/>
            <a:ext cx="400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7B28EE-406A-4F78-838F-E54FC915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315200"/>
            <a:ext cx="250475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1019D4-1EB6-42F0-A9F6-8466A0F3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70104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B80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B806B"/>
                </a:solidFill>
                <a:latin typeface="Arial"/>
                <a:ea typeface="Arial"/>
                <a:cs typeface="Arial"/>
              </a:rPr>
              <a:t>0.5635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354517-6007-4C5B-AA2B-C6A4E51F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658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63A31"/>
                </a:solidFill>
                <a:latin typeface="Arial"/>
                <a:ea typeface="Arial"/>
                <a:cs typeface="Arial"/>
              </a:rPr>
              <a:t>AVSeg · Factorized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1406A7-91AA-411F-9E07-1F91E27E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962900"/>
            <a:ext cx="400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0D5A49-D2E9-4CEF-9DB6-C6667078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962900"/>
            <a:ext cx="247142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BEC918-E36E-42B0-B050-EB4E6FA8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76581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A9823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9823B"/>
                </a:solidFill>
                <a:latin typeface="Arial"/>
                <a:ea typeface="Arial"/>
                <a:cs typeface="Arial"/>
              </a:rPr>
              <a:t>0.5560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1793AB-1700-484B-84ED-E1125AC4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286750"/>
            <a:ext cx="422910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DDEFE9"/>
          </a:solidFill>
          <a:ln xmlns:a="http://schemas.openxmlformats.org/drawingml/2006/main" w="19050">
            <a:solidFill>
              <a:srgbClr val="2F8E8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1AB63A-F12D-477D-BF40-05E34CE6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296275"/>
            <a:ext cx="403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8E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8E83"/>
                </a:solidFill>
                <a:latin typeface="Arial"/>
                <a:ea typeface="Arial"/>
                <a:cs typeface="Arial"/>
              </a:rPr>
              <a:t>Mass-UDCT Δ = +0.0090</a:t>
            </a:r>
          </a:p>
        </p:txBody>
      </p:sp>
      <p:sp>
        <p:nvSpPr>
          <p:cNvPr id="44" name="panel-C">
            <a:extLst xmlns:a="http://schemas.openxmlformats.org/drawingml/2006/main">
              <a:ext uri="{FF2B5EF4-FFF2-40B4-BE49-F238E27FC236}">
                <a16:creationId xmlns:a16="http://schemas.microsoft.com/office/drawing/2014/main" id="{9C85D0A2-0A06-4528-8EC9-630053BB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720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5B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B5B4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45" name="panel-title-C">
            <a:extLst xmlns:a="http://schemas.openxmlformats.org/drawingml/2006/main">
              <a:ext uri="{FF2B5EF4-FFF2-40B4-BE49-F238E27FC236}">
                <a16:creationId xmlns:a16="http://schemas.microsoft.com/office/drawing/2014/main" id="{CFE8E531-625F-4067-956D-AB3EC0C8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Outcome blind transport audit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C96C3B6-8DC5-4CAF-9492-60276277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00625"/>
            <a:ext cx="8743950" cy="3762375"/>
          </a:xfrm>
          <a:prstGeom xmlns:a="http://schemas.openxmlformats.org/drawingml/2006/main" prst="roundRect">
            <a:avLst>
              <a:gd name="adj" fmla="val 4557"/>
            </a:avLst>
          </a:prstGeom>
          <a:solidFill xmlns:a="http://schemas.openxmlformats.org/drawingml/2006/main">
            <a:srgbClr val="FFFEF7"/>
          </a:solidFill>
          <a:ln xmlns:a="http://schemas.openxmlformats.org/drawingml/2006/main" w="19050">
            <a:solidFill>
              <a:srgbClr val="C8C8B8"/>
            </a:solidFill>
            <a:prstDash val="solid"/>
          </a:ln>
        </p:spPr>
      </p:sp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28b0fb8f5f49e8"/>
          <a:stretch xmlns:a="http://schemas.openxmlformats.org/drawingml/2006/main"/>
        </p:blipFill>
        <p:spPr>
          <a:xfrm xmlns:a="http://schemas.openxmlformats.org/drawingml/2006/main">
            <a:off x="6510595" y="5191125"/>
            <a:ext cx="734326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E3F577D-0F38-4117-9E67-31A2E292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8458200"/>
            <a:ext cx="836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Four frozen phenotypes · patient-eye median · 2,000 bootstrap repetitions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D14036A-D938-469B-8192-6F5FA3BE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8963025"/>
            <a:ext cx="116205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2E8CC"/>
          </a:solidFill>
          <a:ln xmlns:a="http://schemas.openxmlformats.org/drawingml/2006/main" w="19050">
            <a:solidFill>
              <a:srgbClr val="A9823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C3F2815-7722-43A2-97E9-6624EB30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982075"/>
            <a:ext cx="1123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982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9823B"/>
                </a:solidFill>
                <a:latin typeface="Arial"/>
                <a:ea typeface="Arial"/>
                <a:cs typeface="Arial"/>
              </a:rPr>
              <a:t>High domain separability defines a transport boundary; it is not evidence of clinical validity.</a:t>
            </a:r>
          </a:p>
        </p:txBody>
      </p:sp>
    </p:spTree>
    <p:extLst>
      <p:ext uri="{BB962C8B-B14F-4D97-AF65-F5344CB8AC3E}">
        <p14:creationId xmlns:p14="http://schemas.microsoft.com/office/powerpoint/2010/main" val="3280729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E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kicker">
            <a:extLst xmlns:a="http://schemas.openxmlformats.org/drawingml/2006/main">
              <a:ext uri="{FF2B5EF4-FFF2-40B4-BE49-F238E27FC236}">
                <a16:creationId xmlns:a16="http://schemas.microsoft.com/office/drawing/2014/main" id="{6ADD683E-E0A8-43CC-B50D-BB555B22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80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B806B"/>
                </a:solidFill>
                <a:latin typeface="Arial"/>
                <a:ea typeface="Arial"/>
                <a:cs typeface="Arial"/>
              </a:rPr>
              <a:t>FIGURE 4 · SAME EYE RELIABILITY</a:t>
            </a:r>
          </a:p>
        </p:txBody>
      </p:sp>
      <p:sp>
        <p:nvSpPr>
          <p:cNvPr id="2" name="figure-title">
            <a:extLst xmlns:a="http://schemas.openxmlformats.org/drawingml/2006/main">
              <a:ext uri="{FF2B5EF4-FFF2-40B4-BE49-F238E27FC236}">
                <a16:creationId xmlns:a16="http://schemas.microsoft.com/office/drawing/2014/main" id="{0F11C3DF-1821-4FF6-9807-E68E2B6F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400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B5B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B5B4A"/>
                </a:solidFill>
                <a:latin typeface="Arial"/>
                <a:ea typeface="Arial"/>
                <a:cs typeface="Arial"/>
              </a:rPr>
              <a:t>Only four of nine candidate phenotypes survive a label blind repeatability gate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0995E75-BECD-4600-8C47-A09C6FD6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4058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C7AE"/>
            </a:solidFill>
            <a:prstDash val="solid"/>
          </a:ln>
        </p:spPr>
      </p:sp>
      <p:sp>
        <p:nvSpPr>
          <p:cNvPr id="4" name="panel-A">
            <a:extLst xmlns:a="http://schemas.openxmlformats.org/drawingml/2006/main">
              <a:ext uri="{FF2B5EF4-FFF2-40B4-BE49-F238E27FC236}">
                <a16:creationId xmlns:a16="http://schemas.microsoft.com/office/drawing/2014/main" id="{66356458-ACCD-4685-ACEE-0A547124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5B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B5B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" name="panel-title-A">
            <a:extLst xmlns:a="http://schemas.openxmlformats.org/drawingml/2006/main">
              <a:ext uri="{FF2B5EF4-FFF2-40B4-BE49-F238E27FC236}">
                <a16:creationId xmlns:a16="http://schemas.microsoft.com/office/drawing/2014/main" id="{F0A0D387-A8D8-4DB6-B838-516F97BE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811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Natural repeated acquisition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E91D08-0034-4E4B-A013-44BBA17D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000500" cy="32575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DF3E9"/>
          </a:solidFill>
          <a:ln xmlns:a="http://schemas.openxmlformats.org/drawingml/2006/main" w="19050">
            <a:solidFill>
              <a:srgbClr val="A8C7AE"/>
            </a:solidFill>
            <a:prstDash val="solid"/>
          </a:ln>
        </p:spPr>
      </p:sp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c0cf906f1d434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2133600"/>
            <a:ext cx="1619250" cy="1619250"/>
          </a:xfrm>
          <a:prstGeom xmlns:a="http://schemas.openxmlformats.org/drawingml/2006/main" prst="roundRect">
            <a:avLst>
              <a:gd name="adj" fmla="val 7059"/>
            </a:avLst>
          </a:prstGeom>
        </p:spPr>
      </p:pic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a83d60bd17460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09875" y="2133600"/>
            <a:ext cx="1619250" cy="1619250"/>
          </a:xfrm>
          <a:prstGeom xmlns:a="http://schemas.openxmlformats.org/drawingml/2006/main" prst="roundRect">
            <a:avLst>
              <a:gd name="adj" fmla="val 705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5E50BB-7E71-4EC3-A306-87EB8D6E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B5B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B5B4A"/>
                </a:solidFill>
                <a:latin typeface="Arial"/>
                <a:ea typeface="Arial"/>
                <a:cs typeface="Arial"/>
              </a:rPr>
              <a:t>View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722E40-D6B1-4B00-855C-50D25B24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829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B5B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B5B4A"/>
                </a:solidFill>
                <a:latin typeface="Arial"/>
                <a:ea typeface="Arial"/>
                <a:cs typeface="Arial"/>
              </a:rPr>
              <a:t>View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4481E6-7EA9-4815-9A27-79E9483A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3514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same patient · same eye · different capture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2738E8-E036-432E-8A59-442FB080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91050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8E8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E83"/>
                </a:solidFill>
                <a:latin typeface="Arial"/>
                <a:ea typeface="Arial"/>
                <a:cs typeface="Arial"/>
              </a:rPr>
              <a:t>2,359 repeat pairs</a:t>
            </a:r>
          </a:p>
        </p:txBody>
      </p:sp>
      <p:sp>
        <p:nvSpPr>
          <p:cNvPr id="13" name="panel-B">
            <a:extLst xmlns:a="http://schemas.openxmlformats.org/drawingml/2006/main">
              <a:ext uri="{FF2B5EF4-FFF2-40B4-BE49-F238E27FC236}">
                <a16:creationId xmlns:a16="http://schemas.microsoft.com/office/drawing/2014/main" id="{33D28A57-8040-41BF-83CA-95F88086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3811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5B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B5B4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panel-title-B">
            <a:extLst xmlns:a="http://schemas.openxmlformats.org/drawingml/2006/main">
              <a:ext uri="{FF2B5EF4-FFF2-40B4-BE49-F238E27FC236}">
                <a16:creationId xmlns:a16="http://schemas.microsoft.com/office/drawing/2014/main" id="{85034771-7C12-4860-B581-354A1290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3811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8061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Reliability, not outcome association, defines the phenotype 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072EAE-6C1F-4BE6-9E98-5B4C2262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219" y="1866900"/>
            <a:ext cx="2117481" cy="571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E865EB-C54D-4857-9C7E-8781B2A5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669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8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5C5F47-ED83-4DB0-9818-123C458E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76295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0.20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A1C113-B7DA-4065-B04C-15EF2E87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613" y="18669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8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8A217E-B6F1-4773-A057-3698F57D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76295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0.36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16074B-B227-47BC-8E0D-F7C80DB6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18669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8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8EA930-9955-4A37-BBD6-84AD1E29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76295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0.52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890E80-0C96-43EF-9898-6F1765E2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5338" y="18669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8B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0255AD-1200-44D4-8F9D-C18AC2A4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963" y="76295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0.69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7F659B-9DC7-4152-BA80-67D56432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18669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8B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954628-BB06-496B-9895-E186E819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325" y="76295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0.85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E1A326-BFC6-4B6D-B339-3E2CE5CE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669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3A3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C60069-55CB-4395-AB94-9CB78CE3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219" y="18669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B4A3C"/>
            </a:solidFill>
            <a:prstDash val="dash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6CBD3B-E9F4-4E7D-B0FB-DD9B4898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32000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Occupancy disagreement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772C2B-591B-426F-A18C-32614239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1975" y="2184400"/>
            <a:ext cx="3218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8E8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F975C7-6A3D-4131-9968-D58DB33E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1975" y="21272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8E8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F140CD-36C0-495D-9E04-C2BD8811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3832" y="21272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8E8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E1A193-D080-472E-8575-70F9DFB2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4698" y="2117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E83"/>
          </a:solidFill>
          <a:ln xmlns:a="http://schemas.openxmlformats.org/drawingml/2006/main" w="9525">
            <a:solidFill>
              <a:srgbClr val="2F8E8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4C8865-22F6-4A9F-98F1-04D6A678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202247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8E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8E83"/>
                </a:solidFill>
                <a:latin typeface="Arial"/>
                <a:ea typeface="Arial"/>
                <a:cs typeface="Arial"/>
              </a:rPr>
              <a:t>0.811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637EDD-1E0F-43B9-8FFE-5BA441DF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67000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Factorized skeleton density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4F5EDA-5437-4214-B4F3-83EDE600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1648" y="2819400"/>
            <a:ext cx="3133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8E8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F87769-0B2A-47CA-A134-83326042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1648" y="27622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8E8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26F1C0-CC8A-49FB-83B7-CA98E88B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5035" y="27622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8E8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1691DC-79F6-44AE-B5CF-F8CB872A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4371" y="2752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E83"/>
          </a:solidFill>
          <a:ln xmlns:a="http://schemas.openxmlformats.org/drawingml/2006/main" w="9525">
            <a:solidFill>
              <a:srgbClr val="2F8E8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6260D3-CF3F-4E2B-9DFF-0F50880C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265747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8E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8E83"/>
                </a:solidFill>
                <a:latin typeface="Arial"/>
                <a:ea typeface="Arial"/>
                <a:cs typeface="Arial"/>
              </a:rPr>
              <a:t>0.772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302992-CCA2-4446-A4B4-104F1921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02000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Mass skeleton density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648351-F079-445C-81DB-09EC7D83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4764" y="3454400"/>
            <a:ext cx="38114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8E8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4D594E1-A702-4F56-89A5-37F09EC4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4764" y="33972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8E8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B6B1D2-5894-47CE-BF50-19F07958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5911" y="33972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8E8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54B9E66-8C15-439A-9C54-E0C20BD9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2897" y="3387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E83"/>
          </a:solidFill>
          <a:ln xmlns:a="http://schemas.openxmlformats.org/drawingml/2006/main" w="9525">
            <a:solidFill>
              <a:srgbClr val="2F8E8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E129F2B-ED1C-4BFF-8E68-1F7C3D6D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329247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8E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8E83"/>
                </a:solidFill>
                <a:latin typeface="Arial"/>
                <a:ea typeface="Arial"/>
                <a:cs typeface="Arial"/>
              </a:rPr>
              <a:t>0.688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AE945F2-5A27-477D-81F3-3FE53FDD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37000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Soft vessel mass fraction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3BCCEC2-9D6F-41EF-8AAC-6DDB2B71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3125" y="4089400"/>
            <a:ext cx="3896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8E8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56CDB1A-081A-48E5-916A-9EB1832E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3125" y="40322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8E8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73B620B-86A2-484B-8470-A235176B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2742" y="40322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8E8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41848CF-FECF-4F39-9828-AAB1F804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258" y="4022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E83"/>
          </a:solidFill>
          <a:ln xmlns:a="http://schemas.openxmlformats.org/drawingml/2006/main" w="9525">
            <a:solidFill>
              <a:srgbClr val="2F8E8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27DCB80-7323-48AB-A81B-215CDE09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392747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8E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8E83"/>
                </a:solidFill>
                <a:latin typeface="Arial"/>
                <a:ea typeface="Arial"/>
                <a:cs typeface="Arial"/>
              </a:rPr>
              <a:t>0.676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73B6E79-5178-431D-A818-632E45E4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572000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63A31"/>
                </a:solidFill>
                <a:latin typeface="Arial"/>
                <a:ea typeface="Arial"/>
                <a:cs typeface="Arial"/>
              </a:rPr>
              <a:t>Identity entropy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79A4EEC-123D-4E88-8222-F95876C9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8539" y="4724400"/>
            <a:ext cx="5166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E746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13C7A3F-2789-4C73-A725-AFFE1456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8539" y="46672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746E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9179D95-DB1A-41E5-93B9-20A72287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204" y="46672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746E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F70B5CD-2D1E-4D5D-AD4C-9089E902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5962" y="4657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46E"/>
          </a:solidFill>
          <a:ln xmlns:a="http://schemas.openxmlformats.org/drawingml/2006/main" w="9525">
            <a:solidFill>
              <a:srgbClr val="6E746E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DCB12F9-D940-4CF3-9824-221C348E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456247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0.503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3A3C4EC-6171-4E00-B125-BD10C36D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07000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63A31"/>
                </a:solidFill>
                <a:latin typeface="Arial"/>
                <a:ea typeface="Arial"/>
                <a:cs typeface="Arial"/>
              </a:rPr>
              <a:t>Mass branch density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119D5E0-3A8A-489F-8C59-57475EE9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0671" y="5359400"/>
            <a:ext cx="52513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E746E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28DF3DF-6AFB-4C54-BF92-2176C4C0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0671" y="53022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746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A2F3480-4C0A-489C-8D02-F96F051F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806" y="53022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746E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6787163-3556-4BF2-8762-062D39E1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5033" y="5292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46E"/>
          </a:solidFill>
          <a:ln xmlns:a="http://schemas.openxmlformats.org/drawingml/2006/main" w="9525">
            <a:solidFill>
              <a:srgbClr val="6E746E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DABF71D-701D-4C7E-BE9E-9392D817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519747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0.484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1FC92EC-28E3-47A6-AEFD-3F02E374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842000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63A31"/>
                </a:solidFill>
                <a:latin typeface="Arial"/>
                <a:ea typeface="Arial"/>
                <a:cs typeface="Arial"/>
              </a:rPr>
              <a:t>Soft A/V log-mass ratio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EA5F778-ACB8-4874-817B-00959C9C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2859" y="5994400"/>
            <a:ext cx="6267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E746E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63A06EA-A595-4642-8D94-A41B3A6D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2859" y="59372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746E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D1CE9B2-C7E7-4BBE-AD38-D410A731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9633" y="59372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746E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BF1CFBC-CDD0-40B0-9C62-A1A7897F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8041" y="5927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46E"/>
          </a:solidFill>
          <a:ln xmlns:a="http://schemas.openxmlformats.org/drawingml/2006/main" w="9525">
            <a:solidFill>
              <a:srgbClr val="6E746E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FF2221E-7558-4305-9E13-A46B5896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583247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0.384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13A35CA-76F1-4820-B876-3DE57A2F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477000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63A31"/>
                </a:solidFill>
                <a:latin typeface="Arial"/>
                <a:ea typeface="Arial"/>
                <a:cs typeface="Arial"/>
              </a:rPr>
              <a:t>Factorized A/V log-area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7B8D614-6ACC-425C-AAF7-967F661B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6411" y="6629400"/>
            <a:ext cx="8046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E746E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86D8BA5-8DBB-4D45-84AF-A8B9EF22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6411" y="65722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746E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AE810AB-3DA2-4FC5-804D-3DFA3F72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1054" y="65722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746E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3D11A12-75BE-4189-8AA9-343C7390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763" y="6562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46E"/>
          </a:solidFill>
          <a:ln xmlns:a="http://schemas.openxmlformats.org/drawingml/2006/main" w="9525">
            <a:solidFill>
              <a:srgbClr val="6E746E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9F844DF-1B6A-42C8-9069-2DF64366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646747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0.360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2BC0051-AA65-4305-9A75-9005EF47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7112000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63A31"/>
                </a:solidFill>
                <a:latin typeface="Arial"/>
                <a:ea typeface="Arial"/>
                <a:cs typeface="Arial"/>
              </a:rPr>
              <a:t>Base to mass disagreement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E989B9A-F75F-4889-A6E8-DC0C3DC7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9637" y="7264400"/>
            <a:ext cx="7707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E746E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6439DB9-D282-4A86-A9B9-828E64FE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9637" y="72072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746E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181987C-9F04-4A80-AC7B-89F044E3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400" y="72072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746E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E03D4A8-2EE6-4C81-B1F7-656664C4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109" y="7197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46E"/>
          </a:solidFill>
          <a:ln xmlns:a="http://schemas.openxmlformats.org/drawingml/2006/main" w="9525">
            <a:solidFill>
              <a:srgbClr val="6E746E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043A96A-A092-4128-A804-0DC2E2B0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710247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0.282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B4D23AF-1823-4785-AF5C-50A52187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79248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ICC(1,1), bootstrap 95% CI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49455CE-8EEC-4412-8433-EBDB63FD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4000500" cy="1828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DDEFE9"/>
          </a:solidFill>
          <a:ln xmlns:a="http://schemas.openxmlformats.org/drawingml/2006/main" w="19050">
            <a:solidFill>
              <a:srgbClr val="2F8E8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C21B0B3-C2CC-4DBE-8BCB-98C03286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38800"/>
            <a:ext cx="354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8E8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E83"/>
                </a:solidFill>
                <a:latin typeface="Arial"/>
                <a:ea typeface="Arial"/>
                <a:cs typeface="Arial"/>
              </a:rPr>
              <a:t>BiRAP decision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18E7C75-3501-4C27-8F93-14EC33D1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76950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B5B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B5B4A"/>
                </a:solidFill>
                <a:latin typeface="Arial"/>
                <a:ea typeface="Arial"/>
                <a:cs typeface="Arial"/>
              </a:rPr>
              <a:t>Retain if ICC(1,1) ≥ 0.60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87B8D45-904F-4DDF-8254-86A5AD9C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91300"/>
            <a:ext cx="354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The threshold is prespecified and calculated</a:t>
            </a:r>
          </a:p>
          <a:p xmlns:a="http://schemas.openxmlformats.org/drawingml/2006/main">
            <a:pPr algn="ctr">
              <a:defRPr sz="1125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before systemic outcomes are accessed.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E4445D2-2850-4BED-8B79-2AB22755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0"/>
            <a:ext cx="4000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E4DD"/>
          </a:solidFill>
          <a:ln xmlns:a="http://schemas.openxmlformats.org/drawingml/2006/main" w="19050">
            <a:solidFill>
              <a:srgbClr val="9B4A3C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09E3849-F8BD-4A11-BDA5-403C7721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73430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B4A3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9B4A3C"/>
                </a:solidFill>
                <a:latin typeface="Arial"/>
                <a:ea typeface="Arial"/>
                <a:cs typeface="Arial"/>
              </a:rPr>
              <a:t>5 candidates excluded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5F944CB-8BFD-4A36-92BD-D5F86AB7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15300"/>
            <a:ext cx="3543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Negative results remain reported;</a:t>
            </a:r>
          </a:p>
          <a:p xmlns:a="http://schemas.openxmlformats.org/drawingml/2006/main">
            <a:pPr algn="ctr">
              <a:defRPr sz="1125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no outcome driven rescue search.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3A69A20-16F9-43FF-A6FD-12993FC1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496300"/>
            <a:ext cx="81915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D8E7D5"/>
          </a:solidFill>
          <a:ln xmlns:a="http://schemas.openxmlformats.org/drawingml/2006/main" w="19050">
            <a:solidFill>
              <a:srgbClr val="A8C7AE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AB03DDD-2A29-4ACF-9658-2CE4D3D0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8582025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9658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B5B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B5B4A"/>
                </a:solidFill>
                <a:latin typeface="Arial"/>
                <a:ea typeface="Arial"/>
                <a:cs typeface="Arial"/>
              </a:rPr>
              <a:t>Repeatability shrinks the hypothesis space from 9 prespecified candidates to a core of 4.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F173990-E746-4F68-BC1E-5BA11BD3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05900"/>
            <a:ext cx="1386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mBRSET 224 px mirror · 1,287 patients · 189 optic disc fallbacks documented</a:t>
            </a:r>
          </a:p>
        </p:txBody>
      </p:sp>
    </p:spTree>
    <p:extLst>
      <p:ext uri="{BB962C8B-B14F-4D97-AF65-F5344CB8AC3E}">
        <p14:creationId xmlns:p14="http://schemas.microsoft.com/office/powerpoint/2010/main" val="6291797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" name="kicker">
            <a:extLst xmlns:a="http://schemas.openxmlformats.org/drawingml/2006/main">
              <a:ext uri="{FF2B5EF4-FFF2-40B4-BE49-F238E27FC236}">
                <a16:creationId xmlns:a16="http://schemas.microsoft.com/office/drawing/2014/main" id="{6338BD75-471C-4ADE-A9EC-ADB0EEE7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80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B806B"/>
                </a:solidFill>
                <a:latin typeface="Arial"/>
                <a:ea typeface="Arial"/>
                <a:cs typeface="Arial"/>
              </a:rPr>
              <a:t>FIGURE 5 · INTERNAL OUTCOME EXPERIMENTS</a:t>
            </a:r>
          </a:p>
        </p:txBody>
      </p:sp>
      <p:sp>
        <p:nvSpPr>
          <p:cNvPr id="2" name="figure-title">
            <a:extLst xmlns:a="http://schemas.openxmlformats.org/drawingml/2006/main">
              <a:ext uri="{FF2B5EF4-FFF2-40B4-BE49-F238E27FC236}">
                <a16:creationId xmlns:a16="http://schemas.microsoft.com/office/drawing/2014/main" id="{C75F909D-7641-497E-8F7A-BD5570FB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400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B5B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B5B4A"/>
                </a:solidFill>
                <a:latin typeface="Arial"/>
                <a:ea typeface="Arial"/>
                <a:cs typeface="Arial"/>
              </a:rPr>
              <a:t>Better measurement did not translate into confirmed CIMT increment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C9DC82C-523A-4260-992B-80F2851B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4058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C7AE"/>
            </a:solidFill>
            <a:prstDash val="solid"/>
          </a:ln>
        </p:spPr>
      </p:sp>
      <p:sp>
        <p:nvSpPr>
          <p:cNvPr id="4" name="panel-A">
            <a:extLst xmlns:a="http://schemas.openxmlformats.org/drawingml/2006/main">
              <a:ext uri="{FF2B5EF4-FFF2-40B4-BE49-F238E27FC236}">
                <a16:creationId xmlns:a16="http://schemas.microsoft.com/office/drawing/2014/main" id="{D6920CE5-840C-4BFC-B9EB-0630CDE1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5B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B5B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" name="panel-title-A">
            <a:extLst xmlns:a="http://schemas.openxmlformats.org/drawingml/2006/main">
              <a:ext uri="{FF2B5EF4-FFF2-40B4-BE49-F238E27FC236}">
                <a16:creationId xmlns:a16="http://schemas.microsoft.com/office/drawing/2014/main" id="{AAB0C114-179F-4BBD-B9F2-8FE70131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811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Prespecified model ladder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F6A04-6EB2-4B22-B754-A59246EC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647950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C7A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5819AA-2DD7-427B-BFA2-2497D49E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47950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C7A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468B74-4E1E-4554-9FFF-FE93C02F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47950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C7A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BE83B9-9F07-4C4A-B9FF-D5DC5F48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47950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C7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11351F-916C-489E-B5F2-F21D9EB0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47950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C7A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354D44-FFCD-4F26-9F6D-B9526B84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2647950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C7A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F9406C-1097-4E34-A18F-67FDDD20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1676400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EF7"/>
          </a:solidFill>
          <a:ln xmlns:a="http://schemas.openxmlformats.org/drawingml/2006/main" w="19050">
            <a:solidFill>
              <a:srgbClr val="6E74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446E3A-7785-4C70-9EB7-1C5453E1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47875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E746E"/>
                </a:solidFill>
                <a:latin typeface="Arial"/>
                <a:ea typeface="Arial"/>
                <a:cs typeface="Arial"/>
              </a:rPr>
              <a:t>E0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DF4F1F-F385-4221-A292-CDC10D78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Clinical baseline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93C961-776F-457D-9543-898CA387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E746E"/>
                </a:solidFill>
                <a:latin typeface="Arial"/>
                <a:ea typeface="Arial"/>
                <a:cs typeface="Arial"/>
              </a:rPr>
              <a:t>MAE 0.11456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20A9C3-82BE-4D6F-9B48-C5A9DE7B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905000"/>
            <a:ext cx="1676400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EF7"/>
          </a:solidFill>
          <a:ln xmlns:a="http://schemas.openxmlformats.org/drawingml/2006/main" w="19050">
            <a:solidFill>
              <a:srgbClr val="9B4A3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573E39-E77A-4DDD-B3A9-EF4119B9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47875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9B4A3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9B4A3C"/>
                </a:solidFill>
                <a:latin typeface="Arial"/>
                <a:ea typeface="Arial"/>
                <a:cs typeface="Arial"/>
              </a:rPr>
              <a:t>E4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4CD410-3EBB-4E7E-B6F6-62907BF3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28875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+ 104D direct fusion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6DEB9C-BC81-4991-9AFD-79BBA274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289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9B4A3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B4A3C"/>
                </a:solidFill>
                <a:latin typeface="Arial"/>
                <a:ea typeface="Arial"/>
                <a:cs typeface="Arial"/>
              </a:rPr>
              <a:t>worse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929628-91FE-4EBD-B8E2-0ABA3B80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05000"/>
            <a:ext cx="1676400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EF7"/>
          </a:solidFill>
          <a:ln xmlns:a="http://schemas.openxmlformats.org/drawingml/2006/main" w="19050">
            <a:solidFill>
              <a:srgbClr val="A982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351C87-1B31-468E-BD01-FAA1A52D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47875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A982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9823B"/>
                </a:solidFill>
                <a:latin typeface="Arial"/>
                <a:ea typeface="Arial"/>
                <a:cs typeface="Arial"/>
              </a:rPr>
              <a:t>E7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6BF19A-7B52-4398-9C3B-279B1693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28875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Normative deviation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4C43C9-EAE7-4CFB-B5A5-A6D89558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289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9823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9823B"/>
                </a:solidFill>
                <a:latin typeface="Arial"/>
                <a:ea typeface="Arial"/>
                <a:cs typeface="Arial"/>
              </a:rPr>
              <a:t>small dev gain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201C2F-551F-4790-A244-1E14755D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05000"/>
            <a:ext cx="1676400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EF7"/>
          </a:solidFill>
          <a:ln xmlns:a="http://schemas.openxmlformats.org/drawingml/2006/main" w="19050">
            <a:solidFill>
              <a:srgbClr val="2F8E8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60D59B-3A16-46CC-8B78-603B1108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47875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F8E8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8E83"/>
                </a:solidFill>
                <a:latin typeface="Arial"/>
                <a:ea typeface="Arial"/>
                <a:cs typeface="Arial"/>
              </a:rPr>
              <a:t>E8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C64814-C59A-479A-A5AB-9B2C8F1C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28875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Double orthogonal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0A5B17-4EB8-46CE-B429-F5EA61C7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289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8E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8E83"/>
                </a:solidFill>
                <a:latin typeface="Arial"/>
                <a:ea typeface="Arial"/>
                <a:cs typeface="Arial"/>
              </a:rPr>
              <a:t>24/25 folds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2011D6-C165-4D1D-8C34-2E0E98ED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05000"/>
            <a:ext cx="1676400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EF7"/>
          </a:solidFill>
          <a:ln xmlns:a="http://schemas.openxmlformats.org/drawingml/2006/main" w="19050">
            <a:solidFill>
              <a:srgbClr val="A9823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6A54C7-D77A-4D87-9CEF-9B5165ED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47875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A982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9823B"/>
                </a:solidFill>
                <a:latin typeface="Arial"/>
                <a:ea typeface="Arial"/>
                <a:cs typeface="Arial"/>
              </a:rPr>
              <a:t>E9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8F5D60-E705-44BC-A914-B1332D62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28875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Frozen validation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04DD20-67EE-44C5-804E-4E7B89CD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289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9823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9823B"/>
                </a:solidFill>
                <a:latin typeface="Arial"/>
                <a:ea typeface="Arial"/>
                <a:cs typeface="Arial"/>
              </a:rPr>
              <a:t>CI crosses 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D4E58C-5529-4BC9-B693-4A614537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905000"/>
            <a:ext cx="1676400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EF7"/>
          </a:solidFill>
          <a:ln xmlns:a="http://schemas.openxmlformats.org/drawingml/2006/main" w="19050">
            <a:solidFill>
              <a:srgbClr val="4B806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FB67D5-BC24-4118-899A-C05BB9A9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047875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4B806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B806B"/>
                </a:solidFill>
                <a:latin typeface="Arial"/>
                <a:ea typeface="Arial"/>
                <a:cs typeface="Arial"/>
              </a:rPr>
              <a:t>E10A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A29B9A-1384-4918-ACB3-82561C44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428875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Conditional centile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2B0816-823C-4681-9B14-E16762AB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0289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B80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B806B"/>
                </a:solidFill>
                <a:latin typeface="Arial"/>
                <a:ea typeface="Arial"/>
                <a:cs typeface="Arial"/>
              </a:rPr>
              <a:t>MAE 0.10775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F1CDDA-3683-41BC-B202-3D5D9D19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1905000"/>
            <a:ext cx="1676400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EF7"/>
          </a:solidFill>
          <a:ln xmlns:a="http://schemas.openxmlformats.org/drawingml/2006/main" w="19050">
            <a:solidFill>
              <a:srgbClr val="9B4A3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630BC1-81FB-4936-AF8B-9714F79A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2047875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9B4A3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9B4A3C"/>
                </a:solidFill>
                <a:latin typeface="Arial"/>
                <a:ea typeface="Arial"/>
                <a:cs typeface="Arial"/>
              </a:rPr>
              <a:t>E12B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3153F3-BDF0-4764-82CD-D24A2CE5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2428875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ICC gated replacement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84F79B-A6B2-4076-80FA-14E575B7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30289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9B4A3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B4A3C"/>
                </a:solidFill>
                <a:latin typeface="Arial"/>
                <a:ea typeface="Arial"/>
                <a:cs typeface="Arial"/>
              </a:rPr>
              <a:t>worse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CED64F-4DF5-4B4D-803A-ADF8E734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43325"/>
            <a:ext cx="13525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D8E7D5"/>
          </a:solidFill>
          <a:ln xmlns:a="http://schemas.openxmlformats.org/drawingml/2006/main" w="19050">
            <a:solidFill>
              <a:srgbClr val="A8C7A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E8DFB2-F0A4-460E-851D-B65902AE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38575"/>
            <a:ext cx="1318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B5B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B5B4A"/>
                </a:solidFill>
                <a:latin typeface="Arial"/>
                <a:ea typeface="Arial"/>
                <a:cs typeface="Arial"/>
              </a:rPr>
              <a:t>Direct feature stacking failed; residualized normative modeling found only a small development signal.</a:t>
            </a:r>
          </a:p>
        </p:txBody>
      </p:sp>
      <p:sp>
        <p:nvSpPr>
          <p:cNvPr id="42" name="panel-B">
            <a:extLst xmlns:a="http://schemas.openxmlformats.org/drawingml/2006/main">
              <a:ext uri="{FF2B5EF4-FFF2-40B4-BE49-F238E27FC236}">
                <a16:creationId xmlns:a16="http://schemas.microsoft.com/office/drawing/2014/main" id="{6B6EF7D4-A8C7-4B34-9247-5C570168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291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5B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B5B4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43" name="panel-title-B">
            <a:extLst xmlns:a="http://schemas.openxmlformats.org/drawingml/2006/main">
              <a:ext uri="{FF2B5EF4-FFF2-40B4-BE49-F238E27FC236}">
                <a16:creationId xmlns:a16="http://schemas.microsoft.com/office/drawing/2014/main" id="{2609B838-9828-4052-AED4-62F096C0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291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Paired differences and stopping decisions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8E9FB48-9858-4F00-8E9C-5859CAC8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80962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EF7"/>
          </a:solidFill>
          <a:ln xmlns:a="http://schemas.openxmlformats.org/drawingml/2006/main" w="19050">
            <a:solidFill>
              <a:srgbClr val="C8C8B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E2BD271-0015-4121-A2A1-15FA5BFE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572125"/>
            <a:ext cx="0" cy="2266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8B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65F3909-750E-4760-883A-88FDF7B9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7886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-0.004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A46086A-8747-4D92-8DEC-A453A610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3438" y="5572125"/>
            <a:ext cx="0" cy="2266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8B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15AE09D-DF59-40CD-BC49-8E56F2E7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063" y="7886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-0.002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1173EAC-8A89-404C-90D8-4CA13CA3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572125"/>
            <a:ext cx="0" cy="2266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8B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86F0764-77B7-49BC-A411-3B269782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7886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-0.001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872622F-079D-4917-9E9E-4FB79F43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5572125"/>
            <a:ext cx="0" cy="2266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8B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142396-4D22-44D1-ABAE-A8808EEF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938" y="7886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0.001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7A11959-2FCE-4D4C-96D2-BB10E1B5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572125"/>
            <a:ext cx="0" cy="2266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8B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639A6E4-4EED-40BA-B38D-67B24ACE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7886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0.002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D42F60B-D090-4055-B32C-D0B642C3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06" y="5572125"/>
            <a:ext cx="0" cy="2266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3A3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5A2F21C-BE14-4AE3-A970-94728CED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46420"/>
            <a:ext cx="2838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63A31"/>
                </a:solidFill>
                <a:latin typeface="Arial"/>
                <a:ea typeface="Arial"/>
                <a:cs typeface="Arial"/>
              </a:rPr>
              <a:t>E4 direct fusion − E0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84A2940-8E80-4D1D-96DC-37FFB89B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542" y="5798820"/>
            <a:ext cx="12351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B4A3C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E5CE16C-F8B5-4F83-95C6-48036861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542" y="574167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B4A3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5A1A6F6-20CD-43DF-A09B-F2CC7A81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6642" y="574167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B4A3C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A8C9A17-1A45-4A9D-928C-66B3647D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9997" y="57321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4A3C"/>
          </a:solidFill>
          <a:ln xmlns:a="http://schemas.openxmlformats.org/drawingml/2006/main" w="9525">
            <a:solidFill>
              <a:srgbClr val="9B4A3C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D23B27A-A2F4-453B-958E-A635A117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36895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4A3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4A3C"/>
                </a:solidFill>
                <a:latin typeface="Arial"/>
                <a:ea typeface="Arial"/>
                <a:cs typeface="Arial"/>
              </a:rPr>
              <a:t>+0.00089 mm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F33FC71-D612-4832-962F-BB4FCEAC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9810"/>
            <a:ext cx="2838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63A31"/>
                </a:solidFill>
                <a:latin typeface="Arial"/>
                <a:ea typeface="Arial"/>
                <a:cs typeface="Arial"/>
              </a:rPr>
              <a:t>E7 normative − baseline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32C827B-DF37-4EB8-A792-641AEC3E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4693" y="6252210"/>
            <a:ext cx="67535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9823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B240E03-A4EA-465E-80E0-CADBF908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4693" y="619506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823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DF49499-F9F8-4115-A0DF-E4BFA29D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046" y="619506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823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32920BA-8BF4-47B8-BBE3-0943DC06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1931" y="618553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823B"/>
          </a:solidFill>
          <a:ln xmlns:a="http://schemas.openxmlformats.org/drawingml/2006/main" w="9525">
            <a:solidFill>
              <a:srgbClr val="A9823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98987F0-FEB7-4065-9A96-1FCD2EA1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90285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823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823B"/>
                </a:solidFill>
                <a:latin typeface="Arial"/>
                <a:ea typeface="Arial"/>
                <a:cs typeface="Arial"/>
              </a:rPr>
              <a:t>−0.00075 mm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96D4AEF-DA8E-461B-A796-BCDE68AB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553200"/>
            <a:ext cx="2838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63A31"/>
                </a:solidFill>
                <a:latin typeface="Arial"/>
                <a:ea typeface="Arial"/>
                <a:cs typeface="Arial"/>
              </a:rPr>
              <a:t>E8 double orthogonal − raw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CF410FC-2A4B-4696-8132-9D14A9E1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732" y="6705600"/>
            <a:ext cx="1306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8E8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B977BF4-2D12-4454-B9A1-4FC9B179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732" y="66484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8E83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14B21C9-480F-491D-BE2F-35766D0D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6394" y="66484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8E8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C268C4B-953B-4F55-B7B9-4A00A3FC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4119" y="6638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E83"/>
          </a:solidFill>
          <a:ln xmlns:a="http://schemas.openxmlformats.org/drawingml/2006/main" w="9525">
            <a:solidFill>
              <a:srgbClr val="2F8E83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70054C3-94BA-4FB3-B4AE-A932C17F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43675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8E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F8E83"/>
                </a:solidFill>
                <a:latin typeface="Arial"/>
                <a:ea typeface="Arial"/>
                <a:cs typeface="Arial"/>
              </a:rPr>
              <a:t>−0.00019 mm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87B8B07-0A14-406E-A954-09449963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06590"/>
            <a:ext cx="2838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E9 frozen validation − normative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5E811BE-F7EC-47FC-8729-3C7C80A4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208" y="7158990"/>
            <a:ext cx="244654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9823B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FEBF4CB-BFD4-4D96-AED7-9DCB2672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208" y="710184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823B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2FBE1E1-7398-4927-B5B7-5DB19789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750" y="710184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823B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911EA3D-72A8-41B5-8FB5-7DB4A36F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81" y="709231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823B"/>
          </a:solidFill>
          <a:ln xmlns:a="http://schemas.openxmlformats.org/drawingml/2006/main" w="9525">
            <a:solidFill>
              <a:srgbClr val="A9823B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66A5C68-05EB-429A-8658-48FCC45E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997065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823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823B"/>
                </a:solidFill>
                <a:latin typeface="Arial"/>
                <a:ea typeface="Arial"/>
                <a:cs typeface="Arial"/>
              </a:rPr>
              <a:t>−0.00124 mm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EE3905D-B9A9-4E75-BB72-D5A0371C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459980"/>
            <a:ext cx="2838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E12B ICC core − E10A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7AAE679-68F5-4032-B13D-E667F59D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410" y="7612380"/>
            <a:ext cx="582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B4A3C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2102AB2-5439-4DB6-A985-39F268D4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410" y="755523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B4A3C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B9F1DAB-EA3F-4F08-8C52-670D9B42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278" y="755523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B4A3C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B0A38DD-4E40-4147-8E31-B4E6DD3B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008" y="754570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4A3C"/>
          </a:solidFill>
          <a:ln xmlns:a="http://schemas.openxmlformats.org/drawingml/2006/main" w="9525">
            <a:solidFill>
              <a:srgbClr val="9B4A3C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A49A100-8675-4C86-9909-0B80AA6A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450455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B4A3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B4A3C"/>
                </a:solidFill>
                <a:latin typeface="Arial"/>
                <a:ea typeface="Arial"/>
                <a:cs typeface="Arial"/>
              </a:rPr>
              <a:t>+0.00057 mm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5727487-C732-4AC4-B1AA-E07DDEC8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80200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Paired ΔMAE (mm); negative favors retinal model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91A1C66-97BE-402C-87DB-C727D8F9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91525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CIMT development: n=2,603 · single locked validation: n=200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EA12E7C-632C-48AE-B061-44E8627D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048250"/>
            <a:ext cx="5476875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EF7"/>
          </a:solidFill>
          <a:ln xmlns:a="http://schemas.openxmlformats.org/drawingml/2006/main" w="19050">
            <a:solidFill>
              <a:srgbClr val="C8C8B8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B36D4CB-CF8E-4A6C-B6A6-1B4657F5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5238750"/>
            <a:ext cx="4981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B5B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B5B4A"/>
                </a:solidFill>
                <a:latin typeface="Arial"/>
                <a:ea typeface="Arial"/>
                <a:cs typeface="Arial"/>
              </a:rPr>
              <a:t>Frozen validation resolves the claim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51D29AE-98AE-4436-84AB-589A12C5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8388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E746E"/>
                </a:solidFill>
                <a:latin typeface="Arial"/>
                <a:ea typeface="Arial"/>
                <a:cs typeface="Arial"/>
              </a:rPr>
              <a:t>MAE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0C33E5F-F584-4B20-B294-F90F182D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7340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0.14147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8B7308B-4544-476B-BF98-B3EC3FF8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5810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normative baseline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70908AD-C286-4027-8874-E3B8074B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627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8E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8E83"/>
                </a:solidFill>
                <a:latin typeface="Arial"/>
                <a:ea typeface="Arial"/>
                <a:cs typeface="Arial"/>
              </a:rPr>
              <a:t>0.14023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A8CC6FB-68B3-4C7F-95B2-BC6C6FB5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64389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E8 model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653DD2A-0BF9-41C4-A234-43AB4483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9342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C7AE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D41AB4E-018F-4B6B-BDD0-4399072E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124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982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9823B"/>
                </a:solidFill>
                <a:latin typeface="Arial"/>
                <a:ea typeface="Arial"/>
                <a:cs typeface="Arial"/>
              </a:rPr>
              <a:t>ΔMAE −0.00124 mm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88E02AD-9A50-427E-875E-8EE44AF4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5247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B4A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B4A3C"/>
                </a:solidFill>
                <a:latin typeface="Arial"/>
                <a:ea typeface="Arial"/>
                <a:cs typeface="Arial"/>
              </a:rPr>
              <a:t>95% CI −0.00346 to +0.00109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431622C-DCC0-429F-AA81-C4342CB0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981950"/>
            <a:ext cx="44767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F3E4DD"/>
          </a:solidFill>
          <a:ln xmlns:a="http://schemas.openxmlformats.org/drawingml/2006/main" w="19050">
            <a:solidFill>
              <a:srgbClr val="9B4A3C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518A415-984E-4B8A-ABBF-E093E77A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80676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B4A3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9B4A3C"/>
                </a:solidFill>
                <a:latin typeface="Arial"/>
                <a:ea typeface="Arial"/>
                <a:cs typeface="Arial"/>
              </a:rPr>
              <a:t>Directional, not confirmatory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E6EEE2C-72CB-4613-9595-B3096F8B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58275"/>
            <a:ext cx="1386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No fixed test data were used for new model selection or evaluation.</a:t>
            </a:r>
          </a:p>
        </p:txBody>
      </p:sp>
    </p:spTree>
    <p:extLst>
      <p:ext uri="{BB962C8B-B14F-4D97-AF65-F5344CB8AC3E}">
        <p14:creationId xmlns:p14="http://schemas.microsoft.com/office/powerpoint/2010/main" val="7925571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E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kicker">
            <a:extLst xmlns:a="http://schemas.openxmlformats.org/drawingml/2006/main">
              <a:ext uri="{FF2B5EF4-FFF2-40B4-BE49-F238E27FC236}">
                <a16:creationId xmlns:a16="http://schemas.microsoft.com/office/drawing/2014/main" id="{B1F4C416-DC84-4C47-B535-6736A3CB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80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B806B"/>
                </a:solidFill>
                <a:latin typeface="Arial"/>
                <a:ea typeface="Arial"/>
                <a:cs typeface="Arial"/>
              </a:rPr>
              <a:t>FIGURE 6 · CLAIM BOUNDARY</a:t>
            </a:r>
          </a:p>
        </p:txBody>
      </p:sp>
      <p:sp>
        <p:nvSpPr>
          <p:cNvPr id="2" name="figure-title">
            <a:extLst xmlns:a="http://schemas.openxmlformats.org/drawingml/2006/main">
              <a:ext uri="{FF2B5EF4-FFF2-40B4-BE49-F238E27FC236}">
                <a16:creationId xmlns:a16="http://schemas.microsoft.com/office/drawing/2014/main" id="{275FF633-73B3-4DF0-8170-92E1CC2B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400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B5B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B5B4A"/>
                </a:solidFill>
                <a:latin typeface="Arial"/>
                <a:ea typeface="Arial"/>
                <a:cs typeface="Arial"/>
              </a:rPr>
              <a:t>The evidence boundary is a result, not a caveat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5B4F3F5-5BF9-43F6-B196-358D384E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4058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C7AE"/>
            </a:solidFill>
            <a:prstDash val="solid"/>
          </a:ln>
        </p:spPr>
      </p:sp>
      <p:sp>
        <p:nvSpPr>
          <p:cNvPr id="4" name="panel-A">
            <a:extLst xmlns:a="http://schemas.openxmlformats.org/drawingml/2006/main">
              <a:ext uri="{FF2B5EF4-FFF2-40B4-BE49-F238E27FC236}">
                <a16:creationId xmlns:a16="http://schemas.microsoft.com/office/drawing/2014/main" id="{4259B418-7653-4EED-8E6E-7390A430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5B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B5B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" name="panel-title-A">
            <a:extLst xmlns:a="http://schemas.openxmlformats.org/drawingml/2006/main">
              <a:ext uri="{FF2B5EF4-FFF2-40B4-BE49-F238E27FC236}">
                <a16:creationId xmlns:a16="http://schemas.microsoft.com/office/drawing/2014/main" id="{33088AF5-323C-4522-9E6C-8B391B02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811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70817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mBRSET: calibrated reliable core adds no stable hypertension increment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B8631-6A6C-4EEA-8BE5-AEBF2626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286750" cy="3190875"/>
          </a:xfrm>
          <a:prstGeom xmlns:a="http://schemas.openxmlformats.org/drawingml/2006/main" prst="roundRect">
            <a:avLst>
              <a:gd name="adj" fmla="val 5373"/>
            </a:avLst>
          </a:prstGeom>
          <a:solidFill xmlns:a="http://schemas.openxmlformats.org/drawingml/2006/main">
            <a:srgbClr val="EDF3E9"/>
          </a:solidFill>
          <a:ln xmlns:a="http://schemas.openxmlformats.org/drawingml/2006/main" w="19050">
            <a:solidFill>
              <a:srgbClr val="A8C7A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5ECD7C-68C5-4131-9633-36E58419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19350"/>
            <a:ext cx="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8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D5876A-09B6-4962-ABE1-41B57064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9909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-0.012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B0FB09-5098-4D7D-8A4F-5543B29A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19350"/>
            <a:ext cx="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8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A804E6-4A1E-4692-B165-6CBBAA4E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9909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-0.005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782B89-0571-4F44-8B69-4C09BC88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19350"/>
            <a:ext cx="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8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EA6D53-312C-4A96-A59B-F9993B33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9909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0.002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ABA107-8A77-40C1-B1F7-1D234D42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8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54D0AB-AF79-41F9-B95F-36FE6D7B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9909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0.009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33346A-2045-43BF-AAEA-F65AB081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19350"/>
            <a:ext cx="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8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561082-620D-41B8-83C2-C024EA52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9909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0.016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6DC8E1-327D-4094-9CC0-C91C11FE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679" y="2419350"/>
            <a:ext cx="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3A3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353B1B-EB9A-4529-9426-0EE397EA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0950"/>
            <a:ext cx="2124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Overall · n=1,276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E0B35F-40EE-4800-A810-A1377F4C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069" y="2673350"/>
            <a:ext cx="249941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9823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2D3D8B-D968-4781-8CD8-A49BF3EF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069" y="261620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82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40D72C-2ADC-42EC-9E26-B66A065B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1483" y="261620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823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83AFE7-E67A-4B0C-A2F2-ED260593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307" y="2606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823B"/>
          </a:solidFill>
          <a:ln xmlns:a="http://schemas.openxmlformats.org/drawingml/2006/main" w="9525">
            <a:solidFill>
              <a:srgbClr val="A9823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1DEF3C-3F6C-4C00-B16D-C24EFDD7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1142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823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823B"/>
                </a:solidFill>
                <a:latin typeface="Arial"/>
                <a:ea typeface="Arial"/>
                <a:cs typeface="Arial"/>
              </a:rPr>
              <a:t>+0.0019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27F1DD-3E5B-4E6B-BB28-AA6EC059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28950"/>
            <a:ext cx="2124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63A31"/>
                </a:solidFill>
                <a:latin typeface="Arial"/>
                <a:ea typeface="Arial"/>
                <a:cs typeface="Arial"/>
              </a:rPr>
              <a:t>No DR · n=882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47C817-E233-44C9-AB18-F9C8F09B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5368" y="3181350"/>
            <a:ext cx="315206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E74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59C43E-F3D3-46A4-84E7-F516B9BA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5368" y="312420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746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EAE484-AEEB-458C-B6B4-54C78B12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7436" y="312420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746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891276-A98D-4841-ABBD-50EEBFD7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585" y="3114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46E"/>
          </a:solidFill>
          <a:ln xmlns:a="http://schemas.openxmlformats.org/drawingml/2006/main" w="9525">
            <a:solidFill>
              <a:srgbClr val="6E746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1BDC4C-BDC2-4D42-8F5B-1491DB9E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1942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−0.0005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AECC3E-5C4F-4D61-B661-99675151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36950"/>
            <a:ext cx="2124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63A31"/>
                </a:solidFill>
                <a:latin typeface="Arial"/>
                <a:ea typeface="Arial"/>
                <a:cs typeface="Arial"/>
              </a:rPr>
              <a:t>Strict disc QC · n=1,105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1E3217-C671-4302-8820-EDA868EA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244" y="3689350"/>
            <a:ext cx="290028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806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7C798F-59DA-4F6D-87C0-2650AA91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244" y="363220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B806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7D7B5A-E787-48F0-9DF4-E9B5D899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8525" y="363220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B806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5AD76F-AFFD-426F-AA17-3654A4B6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6321" y="3622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806B"/>
          </a:solidFill>
          <a:ln xmlns:a="http://schemas.openxmlformats.org/drawingml/2006/main" w="9525">
            <a:solidFill>
              <a:srgbClr val="4B806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AE66FF-803C-485F-950C-7AFCFC06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742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80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806B"/>
                </a:solidFill>
                <a:latin typeface="Arial"/>
                <a:ea typeface="Arial"/>
                <a:cs typeface="Arial"/>
              </a:rPr>
              <a:t>+0.0056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7E69C1-C44D-4ECF-8BDA-3F5B8A6F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481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Paired ΔAUROC (reliable core − clinical)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356D80-8C05-4CAC-987E-CEC61FB7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91050"/>
            <a:ext cx="742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All confidence intervals cross zero; calibrated Brier differences are also null.</a:t>
            </a:r>
          </a:p>
        </p:txBody>
      </p:sp>
      <p:sp>
        <p:nvSpPr>
          <p:cNvPr id="38" name="panel-B">
            <a:extLst xmlns:a="http://schemas.openxmlformats.org/drawingml/2006/main">
              <a:ext uri="{FF2B5EF4-FFF2-40B4-BE49-F238E27FC236}">
                <a16:creationId xmlns:a16="http://schemas.microsoft.com/office/drawing/2014/main" id="{72708032-2AAD-4EE5-80CC-F5D69C63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3811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5B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B5B4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9" name="panel-title-B">
            <a:extLst xmlns:a="http://schemas.openxmlformats.org/drawingml/2006/main">
              <a:ext uri="{FF2B5EF4-FFF2-40B4-BE49-F238E27FC236}">
                <a16:creationId xmlns:a16="http://schemas.microsoft.com/office/drawing/2014/main" id="{7324EB07-DBBD-4B9C-AAF4-B8C8EFCA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3811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94164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Leakage control passes, but does not create increment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7C9A24-781C-4A47-8FFE-535F94AA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09750"/>
            <a:ext cx="5219700" cy="3190875"/>
          </a:xfrm>
          <a:prstGeom xmlns:a="http://schemas.openxmlformats.org/drawingml/2006/main" prst="roundRect">
            <a:avLst>
              <a:gd name="adj" fmla="val 5373"/>
            </a:avLst>
          </a:prstGeom>
          <a:solidFill xmlns:a="http://schemas.openxmlformats.org/drawingml/2006/main">
            <a:srgbClr val="FFFEF7"/>
          </a:solidFill>
          <a:ln xmlns:a="http://schemas.openxmlformats.org/drawingml/2006/main" w="19050">
            <a:solidFill>
              <a:srgbClr val="C8C8B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CF3E68-7B15-472B-B956-731FEF4E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000250"/>
            <a:ext cx="474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200 patient level label permutations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C16B5A-6995-4003-94F8-43661DE3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19550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3A3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582519E-65BB-4688-AA74-C92E9E37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848100"/>
            <a:ext cx="142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96F487-7D72-451C-A950-BEE244AE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743325"/>
            <a:ext cx="1428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D11538D-0AB1-4AD8-A50D-BEA35DB8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600450"/>
            <a:ext cx="142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D7E7206-B201-4188-B0E6-35EDBCA2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429000"/>
            <a:ext cx="142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AB91A86-C7E9-40E5-82D8-530E1676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219450"/>
            <a:ext cx="1428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13278FD-01A3-4A21-AE62-15E32581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048000"/>
            <a:ext cx="1428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0E1E1E9-DC8F-41F5-9D17-407220B3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914650"/>
            <a:ext cx="1428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FF6F6B4-EFA0-4A28-8A2A-8DFF5C31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857500"/>
            <a:ext cx="1428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12BCD03-07AD-40D5-94C0-6E600A81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2971800"/>
            <a:ext cx="1428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FF3DD76-DF07-48D2-9798-D41A12CF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3152775"/>
            <a:ext cx="1428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1E33D30-1A20-416B-9DAF-17FD6815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3324225"/>
            <a:ext cx="1428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46E90AF-7279-47B8-8C48-923BDF93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3486150"/>
            <a:ext cx="142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50B485A-3FE1-4A64-B385-074A08FF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3638550"/>
            <a:ext cx="142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3C4534C-531C-45B3-BC74-1F879592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3743325"/>
            <a:ext cx="1428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66370D2-3D70-4094-8F9C-D862F581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3829050"/>
            <a:ext cx="142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675D2BB-E076-4BD4-8D94-3B9D1F2C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3895725"/>
            <a:ext cx="1428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0C68EAC-1BF5-4AE2-8B90-48B8498C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3943350"/>
            <a:ext cx="142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C65E69E-5159-48DB-BC89-642A0496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2743200"/>
            <a:ext cx="0" cy="1276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B5B4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9320906-3C2F-4B8A-BAA2-2C6DAE1C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4765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B5B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B5B4A"/>
                </a:solidFill>
                <a:latin typeface="Arial"/>
                <a:ea typeface="Arial"/>
                <a:cs typeface="Arial"/>
              </a:rPr>
              <a:t>observed 0.666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2142CE0-305B-4485-8070-A6320216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529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Reliable core null 95%: 0.451–0.533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662C1CC-90EC-4C3D-AEA0-F865A10F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6722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8E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8E83"/>
                </a:solidFill>
                <a:latin typeface="Arial"/>
                <a:ea typeface="Arial"/>
                <a:cs typeface="Arial"/>
              </a:rPr>
              <a:t>empirical p = 0.005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0A6CDCD-F6C1-4831-9014-851EE500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244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746E"/>
                </a:solidFill>
                <a:latin typeface="Arial"/>
                <a:ea typeface="Arial"/>
                <a:cs typeface="Arial"/>
              </a:rPr>
              <a:t>outer fold patient overlap = 0</a:t>
            </a:r>
          </a:p>
        </p:txBody>
      </p:sp>
      <p:sp>
        <p:nvSpPr>
          <p:cNvPr id="65" name="panel-C">
            <a:extLst xmlns:a="http://schemas.openxmlformats.org/drawingml/2006/main">
              <a:ext uri="{FF2B5EF4-FFF2-40B4-BE49-F238E27FC236}">
                <a16:creationId xmlns:a16="http://schemas.microsoft.com/office/drawing/2014/main" id="{E2D52B97-CA17-40EA-A73C-C72B0D9E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816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5B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B5B4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6" name="panel-title-C">
            <a:extLst xmlns:a="http://schemas.openxmlformats.org/drawingml/2006/main">
              <a:ext uri="{FF2B5EF4-FFF2-40B4-BE49-F238E27FC236}">
                <a16:creationId xmlns:a16="http://schemas.microsoft.com/office/drawing/2014/main" id="{0D5D6C77-1EF7-4762-ABAF-98F77861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816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What the study can claim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29C7098-F786-4784-AC97-A004D8F0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0250"/>
            <a:ext cx="1381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DDEFE9"/>
          </a:solidFill>
          <a:ln xmlns:a="http://schemas.openxmlformats.org/drawingml/2006/main" w="19050">
            <a:solidFill>
              <a:srgbClr val="2F8E8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3E58DD3-581A-4CCC-BA8A-1CF7FCCD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EF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EF7"/>
                </a:solidFill>
                <a:latin typeface="Arial"/>
                <a:ea typeface="Arial"/>
                <a:cs typeface="Arial"/>
              </a:rPr>
              <a:t>SUPPORTED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6DCD11F-8565-45A6-AEFC-C32923C7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E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8364BC4-6115-4C06-AC5A-D55C0EBC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EF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EF7"/>
                </a:solidFill>
                <a:latin typeface="Arial"/>
                <a:ea typeface="Arial"/>
                <a:cs typeface="Arial"/>
              </a:rPr>
              <a:t>SUPPORTED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1726611-052E-4BBD-A85B-5C139B26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86740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External pixel measurement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ABFEA32-442D-4D6E-959D-514AC2C1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8674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F8E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8E83"/>
                </a:solidFill>
                <a:latin typeface="Arial"/>
                <a:ea typeface="Arial"/>
                <a:cs typeface="Arial"/>
              </a:rPr>
              <a:t>RAV + locked AVSeg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E844CEB-B61A-4163-A7F6-2FFC8ECD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19850"/>
            <a:ext cx="1381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DDEFE9"/>
          </a:solidFill>
          <a:ln xmlns:a="http://schemas.openxmlformats.org/drawingml/2006/main" w="19050">
            <a:solidFill>
              <a:srgbClr val="2F8E8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03F9498-2A7E-42A3-B89A-C753363F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4960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EF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EF7"/>
                </a:solidFill>
                <a:latin typeface="Arial"/>
                <a:ea typeface="Arial"/>
                <a:cs typeface="Arial"/>
              </a:rPr>
              <a:t>SUPPORTED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D164AD5-AC3F-469B-B812-0CF8D25C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4960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E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4421A60-1AD0-429C-9D80-5DFF74C9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4960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EF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EF7"/>
                </a:solidFill>
                <a:latin typeface="Arial"/>
                <a:ea typeface="Arial"/>
                <a:cs typeface="Arial"/>
              </a:rPr>
              <a:t>SUPPORTED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BFC868C-B597-4840-94F9-E2B215CE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47700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Outcome blind repeatability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1624972-4073-4C15-93C7-24B8CA01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770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F8E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8E83"/>
                </a:solidFill>
                <a:latin typeface="Arial"/>
                <a:ea typeface="Arial"/>
                <a:cs typeface="Arial"/>
              </a:rPr>
              <a:t>4 of 9 phenotypes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8D25667-8576-4E96-A312-851B5050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029450"/>
            <a:ext cx="1381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2E8CC"/>
          </a:solidFill>
          <a:ln xmlns:a="http://schemas.openxmlformats.org/drawingml/2006/main" w="19050">
            <a:solidFill>
              <a:srgbClr val="A9823B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D5C8451-A946-4CFD-836B-24AE811F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056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EF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EF7"/>
                </a:solidFill>
                <a:latin typeface="Arial"/>
                <a:ea typeface="Arial"/>
                <a:cs typeface="Arial"/>
              </a:rPr>
              <a:t>EXPLORATORY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41AE708-BC5F-481E-8546-4F37022A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056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C28E846-E693-4671-AF57-FF3EAEDF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056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EF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EF7"/>
                </a:solidFill>
                <a:latin typeface="Arial"/>
                <a:ea typeface="Arial"/>
                <a:cs typeface="Arial"/>
              </a:rPr>
              <a:t>EXPLORATORY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BAC0391-A5AE-465E-AA6D-1D996E20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08660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Conditional CIMT deviation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6CCF2B9-38A0-4233-8641-2531EB91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0866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A982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9823B"/>
                </a:solidFill>
                <a:latin typeface="Arial"/>
                <a:ea typeface="Arial"/>
                <a:cs typeface="Arial"/>
              </a:rPr>
              <a:t>development signal only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B9F0D2C-6A4A-4B20-B533-4E2AE7CE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3E4DD"/>
          </a:solidFill>
          <a:ln xmlns:a="http://schemas.openxmlformats.org/drawingml/2006/main" w="19050">
            <a:solidFill>
              <a:srgbClr val="9B4A3C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9E0DEAA-40C5-4B4B-8EDA-FF16C13A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7152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EF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EF7"/>
                </a:solidFill>
                <a:latin typeface="Arial"/>
                <a:ea typeface="Arial"/>
                <a:cs typeface="Arial"/>
              </a:rPr>
              <a:t>NOT SUPPORTED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FDD1EBB-E520-44C7-8F1A-5226FA97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7152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4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1CEB54E-2ECF-4C5C-B587-9598E474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7152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EF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EF7"/>
                </a:solidFill>
                <a:latin typeface="Arial"/>
                <a:ea typeface="Arial"/>
                <a:cs typeface="Arial"/>
              </a:rPr>
              <a:t>NOT SUPPORTED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33DF4F2-F01C-4AFC-9664-FC45DB9C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69620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Clinical incremental value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A83B726-6243-418E-A386-FFD27570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6962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9B4A3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B4A3C"/>
                </a:solidFill>
                <a:latin typeface="Arial"/>
                <a:ea typeface="Arial"/>
                <a:cs typeface="Arial"/>
              </a:rPr>
              <a:t>intervals cross zero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CDA7B49-97C2-4CB8-ADC9-96A5C9FD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248650"/>
            <a:ext cx="1381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D8E7D5"/>
          </a:solidFill>
          <a:ln xmlns:a="http://schemas.openxmlformats.org/drawingml/2006/main" w="19050">
            <a:solidFill>
              <a:srgbClr val="4B806B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EED28D5-75E0-4952-B102-02B05CEB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3248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EF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EF7"/>
                </a:solidFill>
                <a:latin typeface="Arial"/>
                <a:ea typeface="Arial"/>
                <a:cs typeface="Arial"/>
              </a:rPr>
              <a:t>MISSING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450FA44-8E24-44AC-BA79-1DDEF609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3248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DC4D9BD-886F-4F8B-BA29-49A15E3B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3248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EF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EF7"/>
                </a:solidFill>
                <a:latin typeface="Arial"/>
                <a:ea typeface="Arial"/>
                <a:cs typeface="Arial"/>
              </a:rPr>
              <a:t>MISSING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2CD195C-C0D6-4420-A1C6-8612F140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30580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A3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A31"/>
                </a:solidFill>
                <a:latin typeface="Arial"/>
                <a:ea typeface="Arial"/>
                <a:cs typeface="Arial"/>
              </a:rPr>
              <a:t>Independent high resolution outcome confirmation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95A79A3-7622-4970-8546-9280592E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83058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4B80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B806B"/>
                </a:solidFill>
                <a:latin typeface="Arial"/>
                <a:ea typeface="Arial"/>
                <a:cs typeface="Arial"/>
              </a:rPr>
              <a:t>new cohort required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A311123-DDEB-4E9D-B782-FADEAB52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915400"/>
            <a:ext cx="106680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B5B4A"/>
          </a:solidFill>
          <a:ln xmlns:a="http://schemas.openxmlformats.org/drawingml/2006/main" w="19050">
            <a:solidFill>
              <a:srgbClr val="2B5B4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DE3CA12-2F84-4D81-9E53-8D69671F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953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EF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EF7"/>
                </a:solidFill>
                <a:latin typeface="Arial"/>
                <a:ea typeface="Arial"/>
                <a:cs typeface="Arial"/>
              </a:rPr>
              <a:t>RMDB–BiRAP contributes an auditable measurement system and a prespecified reason to stop.</a:t>
            </a:r>
          </a:p>
        </p:txBody>
      </p:sp>
    </p:spTree>
    <p:extLst>
      <p:ext uri="{BB962C8B-B14F-4D97-AF65-F5344CB8AC3E}">
        <p14:creationId xmlns:p14="http://schemas.microsoft.com/office/powerpoint/2010/main" val="13247781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2026-08-14T01:46:22.8120000Z</dcterms:created>
  <dcterms:modified xsi:type="dcterms:W3CDTF">2026-08-14T01:46:22.8120000Z</dcterms:modified>
</coreProperties>
</file>