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11ac4c5884e4e" /><Relationship Type="http://schemas.openxmlformats.org/officeDocument/2006/relationships/extended-properties" Target="/docProps/app.xml" Id="R20ce5d215bf543a1" /><Relationship Type="http://schemas.openxmlformats.org/officeDocument/2006/relationships/officeDocument" Target="/ppt/presentation.xml" Id="R9d69504dc4f04d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82a3f7ef3348a8"/>
  </p:sldMasterIdLst>
  <p:notesMasterIdLst>
    <p:notesMasterId xmlns:r="http://schemas.openxmlformats.org/officeDocument/2006/relationships" r:id="Rcc05af2be4dc4f8e"/>
  </p:notesMasterIdLst>
  <p:sldIdLst>
    <p:sldId xmlns:r="http://schemas.openxmlformats.org/officeDocument/2006/relationships" id="256" r:id="R2470d8cf4324400d"/>
  </p:sldIdLst>
  <p:sldSz cx="171450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6c12d86ea40b7" /><Relationship Type="http://schemas.openxmlformats.org/officeDocument/2006/relationships/slideMaster" Target="/ppt/slideMasters/slideMaster1.xml" Id="R7282a3f7ef3348a8" /><Relationship Type="http://schemas.openxmlformats.org/officeDocument/2006/relationships/notesMaster" Target="/ppt/notesMasters/notesMaster1.xml" Id="Rcc05af2be4dc4f8e" /><Relationship Type="http://schemas.openxmlformats.org/officeDocument/2006/relationships/presProps" Target="/ppt/presProps.xml" Id="R1287d4f1600c450c" /><Relationship Type="http://schemas.openxmlformats.org/officeDocument/2006/relationships/tableStyles" Target="/ppt/tableStyles.xml" Id="Rfe1419fa71974a7f" /><Relationship Type="http://schemas.openxmlformats.org/officeDocument/2006/relationships/slide" Target="/ppt/slides/slide1.xml" Id="R2470d8cf432440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dceabe8a6242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9fd0bbaf24616" /><Relationship Type="http://schemas.openxmlformats.org/officeDocument/2006/relationships/notesMaster" Target="/ppt/notesMasters/notesMaster1.xml" Id="R2d58a391bff2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/Users/tongyue/Documents/ppf/papers/RMDB/restored_assets/Fundus_AVSeg/Fundus-AVSeg/images/059_D.png</a:t>
            </a:r>
          </a:p>
          <a:p xmlns:a="http://schemas.openxmlformats.org/drawingml/2006/main">
            <a:r>
              <a:t>/Users/tongyue/Documents/ppf/papers/RMDB/artifacts/reverse_open/FundusAVSeg/anatomy/preprocessed_rgb/059_D.png</a:t>
            </a:r>
          </a:p>
          <a:p xmlns:a="http://schemas.openxmlformats.org/drawingml/2006/main">
            <a:r>
              <a:t>/Users/tongyue/Documents/ppf/papers/RMDB/artifacts/reverse_open/FundusAVSeg/anatomy/preprocessed_ce/059_D.png</a:t>
            </a:r>
          </a:p>
          <a:p xmlns:a="http://schemas.openxmlformats.org/drawingml/2006/main">
            <a:r>
              <a:t>/Users/tongyue/Documents/ppf/papers/RMDB/artifacts/reverse_open/FundusAVSeg/anatomy/disc/059_D.png</a:t>
            </a:r>
          </a:p>
          <a:p xmlns:a="http://schemas.openxmlformats.org/drawingml/2006/main">
            <a:r>
              <a:t>/Users/tongyue/Documents/ppf/papers/RMDB/artifacts/reverse_open/FundusAVSeg/anatomy/fovea.csv</a:t>
            </a:r>
          </a:p>
          <a:p xmlns:a="http://schemas.openxmlformats.org/drawingml/2006/main">
            <a:r>
              <a:t>/Users/tongyue/Documents/ppf/papers/RMDB/artifacts/reverse_open/FundusAVSeg/occupancy/059_D.npy</a:t>
            </a:r>
          </a:p>
          <a:p xmlns:a="http://schemas.openxmlformats.org/drawingml/2006/main">
            <a:r>
              <a:t>/Users/tongyue/Documents/ppf/papers/RMDB/artifacts/reverse_open/FundusAVSeg/locked_evaluation/predictions/vascx/059_D.png</a:t>
            </a:r>
          </a:p>
          <a:p xmlns:a="http://schemas.openxmlformats.org/drawingml/2006/main">
            <a:r>
              <a:t>/Users/tongyue/Documents/ppf/papers/RMDB/artifacts/reverse_open/FundusAVSeg/locked_evaluation/predictions/mass_udct/059_D.png</a:t>
            </a:r>
          </a:p>
          <a:p xmlns:a="http://schemas.openxmlformats.org/drawingml/2006/main">
            <a:r>
              <a:t>/Users/tongyue/Documents/ppf/papers/RMDB/artifacts/reverse_open/FundusAVSeg/locked_evaluation/predictions/factorized_mass_udct/059_D.png</a:t>
            </a:r>
          </a:p>
          <a:p xmlns:a="http://schemas.openxmlformats.org/drawingml/2006/main">
            <a:r>
              <a:t>/Users/tongyue/Documents/ppf/papers/RMDB/artifacts/reverse_open/FundusAVSeg/phenotypes/per_eye.csv</a:t>
            </a:r>
          </a:p>
          <a:p xmlns:a="http://schemas.openxmlformats.org/drawingml/2006/main">
            <a:r>
              <a:t>All retinal panels are exact study photographs or deterministic visualisations of saved model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438fda208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8d55cd8a964aa8" /><Relationship Type="http://schemas.openxmlformats.org/officeDocument/2006/relationships/slideLayout" Target="/ppt/slideLayouts/slideLayout1.xml" Id="R09307322bf2a49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307322bf2a49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6a798ce044a77" /><Relationship Type="http://schemas.openxmlformats.org/officeDocument/2006/relationships/image" Target="/ppt/media/image.png" Id="R83ad16a795d5491e" /><Relationship Type="http://schemas.openxmlformats.org/officeDocument/2006/relationships/image" Target="/ppt/media/image2.png" Id="R34064fc196124afc" /><Relationship Type="http://schemas.openxmlformats.org/officeDocument/2006/relationships/image" Target="/ppt/media/image3.png" Id="R7f358113d15f4a03" /><Relationship Type="http://schemas.openxmlformats.org/officeDocument/2006/relationships/image" Target="/ppt/media/image4.png" Id="Rea5240930d0a497e" /><Relationship Type="http://schemas.openxmlformats.org/officeDocument/2006/relationships/image" Target="/ppt/media/image5.png" Id="R9408a4e4f2564661" /><Relationship Type="http://schemas.openxmlformats.org/officeDocument/2006/relationships/image" Target="/ppt/media/image6.png" Id="R49c2dc5392a54242" /><Relationship Type="http://schemas.openxmlformats.org/officeDocument/2006/relationships/image" Target="/ppt/media/image7.png" Id="Rd893016b46ce4179" /><Relationship Type="http://schemas.openxmlformats.org/officeDocument/2006/relationships/image" Target="/ppt/media/image8.png" Id="R120ee663c9dd46c2" /><Relationship Type="http://schemas.openxmlformats.org/officeDocument/2006/relationships/image" Target="/ppt/media/image9.png" Id="Rb61d03cbc4ef49d9" /><Relationship Type="http://schemas.openxmlformats.org/officeDocument/2006/relationships/notesSlide" Target="/ppt/notesSlides/notesSlide1.xml" Id="Rb921574efde3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panel-a">
            <a:extLst xmlns:a="http://schemas.openxmlformats.org/drawingml/2006/main">
              <a:ext uri="{FF2B5EF4-FFF2-40B4-BE49-F238E27FC236}">
                <a16:creationId xmlns:a16="http://schemas.microsoft.com/office/drawing/2014/main" id="{40B84D3F-E7FA-4575-ACAB-C646BFB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867E521C-8FB4-46A2-AA7A-9E69E8F4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Anatomy is fixed before phenotype measurement</a:t>
            </a:r>
          </a:p>
        </p:txBody>
      </p:sp>
      <p:sp>
        <p:nvSpPr>
          <p:cNvPr id="3" name="panel-a-note">
            <a:extLst xmlns:a="http://schemas.openxmlformats.org/drawingml/2006/main">
              <a:ext uri="{FF2B5EF4-FFF2-40B4-BE49-F238E27FC236}">
                <a16:creationId xmlns:a16="http://schemas.microsoft.com/office/drawing/2014/main" id="{FDEB31E7-A9A3-44DD-9160-564AF2FA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Fundus-AVSeg 059_D · real study image · saved pipeline outputs</a:t>
            </a:r>
          </a:p>
        </p:txBody>
      </p:sp>
      <p:sp>
        <p:nvSpPr>
          <p:cNvPr id="4" name="anatomy-panel">
            <a:extLst xmlns:a="http://schemas.openxmlformats.org/drawingml/2006/main">
              <a:ext uri="{FF2B5EF4-FFF2-40B4-BE49-F238E27FC236}">
                <a16:creationId xmlns:a16="http://schemas.microsoft.com/office/drawing/2014/main" id="{273FFCFE-C17B-4E3A-894B-88609CC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596390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BFAFD"/>
          </a:solidFill>
          <a:ln xmlns:a="http://schemas.openxmlformats.org/drawingml/2006/main" w="16193">
            <a:solidFill>
              <a:srgbClr val="D5CBE4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d16a795d5491e"/>
          <a:srcRect xmlns:a="http://schemas.openxmlformats.org/drawingml/2006/main" l="0" t="5634" r="0" b="5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6" name="anatomy-0-image-border">
            <a:extLst xmlns:a="http://schemas.openxmlformats.org/drawingml/2006/main">
              <a:ext uri="{FF2B5EF4-FFF2-40B4-BE49-F238E27FC236}">
                <a16:creationId xmlns:a16="http://schemas.microsoft.com/office/drawing/2014/main" id="{00D15CD6-0040-496E-AD93-710473B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37F8F"/>
            </a:solidFill>
            <a:prstDash val="solid"/>
          </a:ln>
        </p:spPr>
      </p:sp>
      <p:sp>
        <p:nvSpPr>
          <p:cNvPr id="7" name="anatomy-0-title">
            <a:extLst xmlns:a="http://schemas.openxmlformats.org/drawingml/2006/main">
              <a:ext uri="{FF2B5EF4-FFF2-40B4-BE49-F238E27FC236}">
                <a16:creationId xmlns:a16="http://schemas.microsoft.com/office/drawing/2014/main" id="{B0763B7B-2836-4CE8-84D3-2E14D47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Raw photograph</a:t>
            </a:r>
          </a:p>
        </p:txBody>
      </p:sp>
      <p:sp>
        <p:nvSpPr>
          <p:cNvPr id="8" name="anatomy-0-note">
            <a:extLst xmlns:a="http://schemas.openxmlformats.org/drawingml/2006/main">
              <a:ext uri="{FF2B5EF4-FFF2-40B4-BE49-F238E27FC236}">
                <a16:creationId xmlns:a16="http://schemas.microsoft.com/office/drawing/2014/main" id="{CBF5E32D-E2F3-43D2-A068-D08D1AD9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7F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7F8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9" name="anatomy-arrow-0">
            <a:extLst xmlns:a="http://schemas.openxmlformats.org/drawingml/2006/main">
              <a:ext uri="{FF2B5EF4-FFF2-40B4-BE49-F238E27FC236}">
                <a16:creationId xmlns:a16="http://schemas.microsoft.com/office/drawing/2014/main" id="{996AAF0B-B95E-4971-943B-993D917A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383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3C0"/>
          </a:solidFill>
          <a:ln xmlns:a="http://schemas.openxmlformats.org/drawingml/2006/main" w="4763">
            <a:solidFill>
              <a:srgbClr val="AAB3C0"/>
            </a:solidFill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64fc196124afc"/>
          <a:srcRect xmlns:a="http://schemas.openxmlformats.org/drawingml/2006/main" l="0" t="5634" r="0" b="5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3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1" name="anatomy-1-image-border">
            <a:extLst xmlns:a="http://schemas.openxmlformats.org/drawingml/2006/main">
              <a:ext uri="{FF2B5EF4-FFF2-40B4-BE49-F238E27FC236}">
                <a16:creationId xmlns:a16="http://schemas.microsoft.com/office/drawing/2014/main" id="{AA9D816B-6B6E-4B55-A98A-B7A9CBE1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F52A1"/>
            </a:solidFill>
            <a:prstDash val="solid"/>
          </a:ln>
        </p:spPr>
      </p:sp>
      <p:sp>
        <p:nvSpPr>
          <p:cNvPr id="12" name="anatomy-1-title">
            <a:extLst xmlns:a="http://schemas.openxmlformats.org/drawingml/2006/main">
              <a:ext uri="{FF2B5EF4-FFF2-40B4-BE49-F238E27FC236}">
                <a16:creationId xmlns:a16="http://schemas.microsoft.com/office/drawing/2014/main" id="{9DBD7816-C237-4F79-B09C-E5D3964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526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02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Standardised RGB</a:t>
            </a:r>
          </a:p>
        </p:txBody>
      </p:sp>
      <p:sp>
        <p:nvSpPr>
          <p:cNvPr id="13" name="anatomy-1-note">
            <a:extLst xmlns:a="http://schemas.openxmlformats.org/drawingml/2006/main">
              <a:ext uri="{FF2B5EF4-FFF2-40B4-BE49-F238E27FC236}">
                <a16:creationId xmlns:a16="http://schemas.microsoft.com/office/drawing/2014/main" id="{59066DD9-94AE-48FE-9E25-0108B688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62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I*</a:t>
            </a:r>
          </a:p>
        </p:txBody>
      </p:sp>
      <p:sp>
        <p:nvSpPr>
          <p:cNvPr id="14" name="anatomy-arrow-1">
            <a:extLst xmlns:a="http://schemas.openxmlformats.org/drawingml/2006/main">
              <a:ext uri="{FF2B5EF4-FFF2-40B4-BE49-F238E27FC236}">
                <a16:creationId xmlns:a16="http://schemas.microsoft.com/office/drawing/2014/main" id="{C35E62DF-F31F-4FD2-947C-AD542CB4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383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3C0"/>
          </a:solidFill>
          <a:ln xmlns:a="http://schemas.openxmlformats.org/drawingml/2006/main" w="4763">
            <a:solidFill>
              <a:srgbClr val="AAB3C0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58113d15f4a03"/>
          <a:srcRect xmlns:a="http://schemas.openxmlformats.org/drawingml/2006/main" l="0" t="5634" r="0" b="5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15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6" name="anatomy-2-image-border">
            <a:extLst xmlns:a="http://schemas.openxmlformats.org/drawingml/2006/main">
              <a:ext uri="{FF2B5EF4-FFF2-40B4-BE49-F238E27FC236}">
                <a16:creationId xmlns:a16="http://schemas.microsoft.com/office/drawing/2014/main" id="{C0B6335B-51AF-44AD-8E43-A830EFF8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17" name="anatomy-2-title">
            <a:extLst xmlns:a="http://schemas.openxmlformats.org/drawingml/2006/main">
              <a:ext uri="{FF2B5EF4-FFF2-40B4-BE49-F238E27FC236}">
                <a16:creationId xmlns:a16="http://schemas.microsoft.com/office/drawing/2014/main" id="{35E551C8-E0CB-4CF5-95A2-2461A093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526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Disc–fovea frame</a:t>
            </a:r>
          </a:p>
        </p:txBody>
      </p:sp>
      <p:sp>
        <p:nvSpPr>
          <p:cNvPr id="18" name="anatomy-2-note">
            <a:extLst xmlns:a="http://schemas.openxmlformats.org/drawingml/2006/main">
              <a:ext uri="{FF2B5EF4-FFF2-40B4-BE49-F238E27FC236}">
                <a16:creationId xmlns:a16="http://schemas.microsoft.com/office/drawing/2014/main" id="{0DCD6F53-A3FE-40F0-81C0-4652975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62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Zone B only after QC</a:t>
            </a:r>
          </a:p>
        </p:txBody>
      </p:sp>
      <p:sp>
        <p:nvSpPr>
          <p:cNvPr id="19" name="anatomy-arrow-2">
            <a:extLst xmlns:a="http://schemas.openxmlformats.org/drawingml/2006/main">
              <a:ext uri="{FF2B5EF4-FFF2-40B4-BE49-F238E27FC236}">
                <a16:creationId xmlns:a16="http://schemas.microsoft.com/office/drawing/2014/main" id="{0CF76603-C8ED-4C1C-BCDC-9FA0E18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383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3C0"/>
          </a:solidFill>
          <a:ln xmlns:a="http://schemas.openxmlformats.org/drawingml/2006/main" w="4763">
            <a:solidFill>
              <a:srgbClr val="AAB3C0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240930d0a497e"/>
          <a:srcRect xmlns:a="http://schemas.openxmlformats.org/drawingml/2006/main" l="0" t="5634" r="0" b="5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1" name="anatomy-3-image-border">
            <a:extLst xmlns:a="http://schemas.openxmlformats.org/drawingml/2006/main">
              <a:ext uri="{FF2B5EF4-FFF2-40B4-BE49-F238E27FC236}">
                <a16:creationId xmlns:a16="http://schemas.microsoft.com/office/drawing/2014/main" id="{4DA89D08-47B9-4CC8-8A94-88877038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33475"/>
            <a:ext cx="1352550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22" name="anatomy-3-title">
            <a:extLst xmlns:a="http://schemas.openxmlformats.org/drawingml/2006/main">
              <a:ext uri="{FF2B5EF4-FFF2-40B4-BE49-F238E27FC236}">
                <a16:creationId xmlns:a16="http://schemas.microsoft.com/office/drawing/2014/main" id="{DB845C25-0510-472C-B2DA-6FF8A480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29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Enhanced vessel view</a:t>
            </a:r>
          </a:p>
        </p:txBody>
      </p:sp>
      <p:sp>
        <p:nvSpPr>
          <p:cNvPr id="23" name="anatomy-3-note">
            <a:extLst xmlns:a="http://schemas.openxmlformats.org/drawingml/2006/main">
              <a:ext uri="{FF2B5EF4-FFF2-40B4-BE49-F238E27FC236}">
                <a16:creationId xmlns:a16="http://schemas.microsoft.com/office/drawing/2014/main" id="{84E95445-7421-4FD8-9B71-0085CE6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62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shared frozen input</a:t>
            </a:r>
          </a:p>
        </p:txBody>
      </p:sp>
      <p:sp>
        <p:nvSpPr>
          <p:cNvPr id="24" name="coordinate-callout">
            <a:extLst xmlns:a="http://schemas.openxmlformats.org/drawingml/2006/main">
              <a:ext uri="{FF2B5EF4-FFF2-40B4-BE49-F238E27FC236}">
                <a16:creationId xmlns:a16="http://schemas.microsoft.com/office/drawing/2014/main" id="{391FDBB3-8C57-46B0-A3DB-6650ACE9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14425"/>
            <a:ext cx="7524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7145">
            <a:solidFill>
              <a:srgbClr val="6F52A1"/>
            </a:solidFill>
            <a:prstDash val="solid"/>
          </a:ln>
        </p:spPr>
      </p:sp>
      <p:sp>
        <p:nvSpPr>
          <p:cNvPr id="25" name="coordinate-badge">
            <a:extLst xmlns:a="http://schemas.openxmlformats.org/drawingml/2006/main">
              <a:ext uri="{FF2B5EF4-FFF2-40B4-BE49-F238E27FC236}">
                <a16:creationId xmlns:a16="http://schemas.microsoft.com/office/drawing/2014/main" id="{B6173E9D-5A73-4CD5-9A3D-16AE580C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1952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COORDINATE FIRST</a:t>
            </a:r>
          </a:p>
        </p:txBody>
      </p:sp>
      <p:sp>
        <p:nvSpPr>
          <p:cNvPr id="26" name="coordinate-title">
            <a:extLst xmlns:a="http://schemas.openxmlformats.org/drawingml/2006/main">
              <a:ext uri="{FF2B5EF4-FFF2-40B4-BE49-F238E27FC236}">
                <a16:creationId xmlns:a16="http://schemas.microsoft.com/office/drawing/2014/main" id="{A5855E7A-5200-4347-B582-A6B97BA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9725"/>
            <a:ext cx="693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 phenotype is calculated from raw I alone</a:t>
            </a:r>
          </a:p>
        </p:txBody>
      </p:sp>
      <p:sp>
        <p:nvSpPr>
          <p:cNvPr id="27" name="coordinate-note">
            <a:extLst xmlns:a="http://schemas.openxmlformats.org/drawingml/2006/main">
              <a:ext uri="{FF2B5EF4-FFF2-40B4-BE49-F238E27FC236}">
                <a16:creationId xmlns:a16="http://schemas.microsoft.com/office/drawing/2014/main" id="{5DC568AE-E5B4-41BE-82E1-EF0447A0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90725"/>
            <a:ext cx="693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Field of view, optic disc and fovea establish a common retinal frame. Disc failure is retained as provenance; it does not silently generate a Zone B value.</a:t>
            </a:r>
          </a:p>
        </p:txBody>
      </p:sp>
      <p:sp>
        <p:nvSpPr>
          <p:cNvPr id="28" name="panel-b">
            <a:extLst xmlns:a="http://schemas.openxmlformats.org/drawingml/2006/main">
              <a:ext uri="{FF2B5EF4-FFF2-40B4-BE49-F238E27FC236}">
                <a16:creationId xmlns:a16="http://schemas.microsoft.com/office/drawing/2014/main" id="{4C7C2913-25E7-4722-8A78-78D9B21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712ABFF5-FA97-4242-A4D9-EFE30C6D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Separate vascular identity from vessel support</a:t>
            </a:r>
          </a:p>
        </p:txBody>
      </p:sp>
      <p:sp>
        <p:nvSpPr>
          <p:cNvPr id="30" name="panel-b-note">
            <a:extLst xmlns:a="http://schemas.openxmlformats.org/drawingml/2006/main">
              <a:ext uri="{FF2B5EF4-FFF2-40B4-BE49-F238E27FC236}">
                <a16:creationId xmlns:a16="http://schemas.microsoft.com/office/drawing/2014/main" id="{A3BABF5B-2D1B-4BA8-A0A7-6988E35C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146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Two frozen branches answer noninterchangeable questions</a:t>
            </a:r>
          </a:p>
        </p:txBody>
      </p:sp>
      <p:sp>
        <p:nvSpPr>
          <p:cNvPr id="31" name="factorisation-panel">
            <a:extLst xmlns:a="http://schemas.openxmlformats.org/drawingml/2006/main">
              <a:ext uri="{FF2B5EF4-FFF2-40B4-BE49-F238E27FC236}">
                <a16:creationId xmlns:a16="http://schemas.microsoft.com/office/drawing/2014/main" id="{23388822-0B06-498F-B582-656B35E7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59639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BFAFD"/>
          </a:solidFill>
          <a:ln xmlns:a="http://schemas.openxmlformats.org/drawingml/2006/main" w="17145">
            <a:solidFill>
              <a:srgbClr val="D5CBE4"/>
            </a:solidFill>
            <a:prstDash val="solid"/>
          </a:ln>
        </p:spPr>
      </p:sp>
      <p:sp>
        <p:nvSpPr>
          <p:cNvPr id="32" name="shared-input-badge">
            <a:extLst xmlns:a="http://schemas.openxmlformats.org/drawingml/2006/main">
              <a:ext uri="{FF2B5EF4-FFF2-40B4-BE49-F238E27FC236}">
                <a16:creationId xmlns:a16="http://schemas.microsoft.com/office/drawing/2014/main" id="{B3494102-8EFA-40D9-997E-A98BF133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SHARED INPUT I*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8a4e4f25646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914775"/>
            <a:ext cx="1619250" cy="1619250"/>
          </a:xfrm>
          <a:prstGeom xmlns:a="http://schemas.openxmlformats.org/drawingml/2006/main" prst="roundRect">
            <a:avLst>
              <a:gd name="adj" fmla="val 7647"/>
            </a:avLst>
          </a:prstGeom>
        </p:spPr>
      </p:pic>
      <p:sp>
        <p:nvSpPr>
          <p:cNvPr id="34" name="shared-input-image-border">
            <a:extLst xmlns:a="http://schemas.openxmlformats.org/drawingml/2006/main">
              <a:ext uri="{FF2B5EF4-FFF2-40B4-BE49-F238E27FC236}">
                <a16:creationId xmlns:a16="http://schemas.microsoft.com/office/drawing/2014/main" id="{C5567FE7-A873-4260-AEC2-8653225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619250" cy="1619250"/>
          </a:xfrm>
          <a:prstGeom xmlns:a="http://schemas.openxmlformats.org/drawingml/2006/main" prst="roundRect">
            <a:avLst>
              <a:gd name="adj" fmla="val 764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35" name="shared-input-title">
            <a:extLst xmlns:a="http://schemas.openxmlformats.org/drawingml/2006/main">
              <a:ext uri="{FF2B5EF4-FFF2-40B4-BE49-F238E27FC236}">
                <a16:creationId xmlns:a16="http://schemas.microsoft.com/office/drawing/2014/main" id="{61791C72-5975-422E-9E97-07DE8A08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Same anatomy</a:t>
            </a:r>
          </a:p>
        </p:txBody>
      </p:sp>
      <p:sp>
        <p:nvSpPr>
          <p:cNvPr id="36" name="shared-input-note">
            <a:extLst xmlns:a="http://schemas.openxmlformats.org/drawingml/2006/main">
              <a:ext uri="{FF2B5EF4-FFF2-40B4-BE49-F238E27FC236}">
                <a16:creationId xmlns:a16="http://schemas.microsoft.com/office/drawing/2014/main" id="{7F942FDF-2A1C-4641-B4B8-9B2FD57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150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729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one image, two questions</a:t>
            </a:r>
          </a:p>
        </p:txBody>
      </p:sp>
      <p:sp>
        <p:nvSpPr>
          <p:cNvPr id="37" name="input-to-identity">
            <a:extLst xmlns:a="http://schemas.openxmlformats.org/drawingml/2006/main">
              <a:ext uri="{FF2B5EF4-FFF2-40B4-BE49-F238E27FC236}">
                <a16:creationId xmlns:a16="http://schemas.microsoft.com/office/drawing/2014/main" id="{1AE5C4AD-9CBA-4FF5-AB3F-2C689AC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48150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38" name="input-to-occupancy">
            <a:extLst xmlns:a="http://schemas.openxmlformats.org/drawingml/2006/main">
              <a:ext uri="{FF2B5EF4-FFF2-40B4-BE49-F238E27FC236}">
                <a16:creationId xmlns:a16="http://schemas.microsoft.com/office/drawing/2014/main" id="{6B0C2FE3-C67F-4C7F-AEE3-D002409B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38800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4763">
            <a:solidFill>
              <a:srgbClr val="0B8F8B"/>
            </a:solidFill>
            <a:prstDash val="solid"/>
          </a:ln>
        </p:spPr>
      </p:sp>
      <p:sp>
        <p:nvSpPr>
          <p:cNvPr id="39" name="identity-card">
            <a:extLst xmlns:a="http://schemas.openxmlformats.org/drawingml/2006/main">
              <a:ext uri="{FF2B5EF4-FFF2-40B4-BE49-F238E27FC236}">
                <a16:creationId xmlns:a16="http://schemas.microsoft.com/office/drawing/2014/main" id="{DAED5D3D-7C54-49DF-94CE-8297318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62350"/>
            <a:ext cx="4191000" cy="1409700"/>
          </a:xfrm>
          <a:prstGeom xmlns:a="http://schemas.openxmlformats.org/drawingml/2006/main" prst="roundRect">
            <a:avLst>
              <a:gd name="adj" fmla="val 11486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20955">
            <a:solidFill>
              <a:srgbClr val="6F52A1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2dc5392a542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374332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</p:spPr>
      </p:pic>
      <p:sp>
        <p:nvSpPr>
          <p:cNvPr id="41" name="identity-overlay-border">
            <a:extLst xmlns:a="http://schemas.openxmlformats.org/drawingml/2006/main">
              <a:ext uri="{FF2B5EF4-FFF2-40B4-BE49-F238E27FC236}">
                <a16:creationId xmlns:a16="http://schemas.microsoft.com/office/drawing/2014/main" id="{788E9BC4-6B45-41B6-B84A-65E2FD6C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4332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F52A1"/>
            </a:solidFill>
            <a:prstDash val="solid"/>
          </a:ln>
        </p:spPr>
      </p:sp>
      <p:sp>
        <p:nvSpPr>
          <p:cNvPr id="42" name="identity-badge">
            <a:extLst xmlns:a="http://schemas.openxmlformats.org/drawingml/2006/main">
              <a:ext uri="{FF2B5EF4-FFF2-40B4-BE49-F238E27FC236}">
                <a16:creationId xmlns:a16="http://schemas.microsoft.com/office/drawing/2014/main" id="{8DE07B44-C406-4143-B421-2D230E19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24275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43" name="identity-title">
            <a:extLst xmlns:a="http://schemas.openxmlformats.org/drawingml/2006/main">
              <a:ext uri="{FF2B5EF4-FFF2-40B4-BE49-F238E27FC236}">
                <a16:creationId xmlns:a16="http://schemas.microsoft.com/office/drawing/2014/main" id="{591BE4ED-5408-48F5-B62D-93168D9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1480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VascX + UDCT ×2</a:t>
            </a:r>
          </a:p>
        </p:txBody>
      </p:sp>
      <p:sp>
        <p:nvSpPr>
          <p:cNvPr id="44" name="identity-formula">
            <a:extLst xmlns:a="http://schemas.openxmlformats.org/drawingml/2006/main">
              <a:ext uri="{FF2B5EF4-FFF2-40B4-BE49-F238E27FC236}">
                <a16:creationId xmlns:a16="http://schemas.microsoft.com/office/drawing/2014/main" id="{14E75DCE-73B7-426B-B607-6DB3602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862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P(A,V,C | I*)</a:t>
            </a:r>
          </a:p>
        </p:txBody>
      </p:sp>
      <p:sp>
        <p:nvSpPr>
          <p:cNvPr id="45" name="identity-note">
            <a:extLst xmlns:a="http://schemas.openxmlformats.org/drawingml/2006/main">
              <a:ext uri="{FF2B5EF4-FFF2-40B4-BE49-F238E27FC236}">
                <a16:creationId xmlns:a16="http://schemas.microsoft.com/office/drawing/2014/main" id="{04F89C92-542E-41D5-9944-46F3F362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434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artery · vein · crossing</a:t>
            </a:r>
          </a:p>
        </p:txBody>
      </p:sp>
      <p:sp>
        <p:nvSpPr>
          <p:cNvPr id="46" name="occupancy-card">
            <a:extLst xmlns:a="http://schemas.openxmlformats.org/drawingml/2006/main">
              <a:ext uri="{FF2B5EF4-FFF2-40B4-BE49-F238E27FC236}">
                <a16:creationId xmlns:a16="http://schemas.microsoft.com/office/drawing/2014/main" id="{CA27F26A-0450-44B5-B1CC-C2E81236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19700"/>
            <a:ext cx="4191000" cy="1409700"/>
          </a:xfrm>
          <a:prstGeom xmlns:a="http://schemas.openxmlformats.org/drawingml/2006/main" prst="roundRect">
            <a:avLst>
              <a:gd name="adj" fmla="val 11486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20955">
            <a:solidFill>
              <a:srgbClr val="0B8F8B"/>
            </a:solidFill>
            <a:prstDash val="solid"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3016b46ce41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540067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</p:spPr>
      </p:pic>
      <p:sp>
        <p:nvSpPr>
          <p:cNvPr id="48" name="occupancy-overlay-border">
            <a:extLst xmlns:a="http://schemas.openxmlformats.org/drawingml/2006/main">
              <a:ext uri="{FF2B5EF4-FFF2-40B4-BE49-F238E27FC236}">
                <a16:creationId xmlns:a16="http://schemas.microsoft.com/office/drawing/2014/main" id="{A5D83EC8-076E-4944-8792-6043F778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0067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49" name="occupancy-badge">
            <a:extLst xmlns:a="http://schemas.openxmlformats.org/drawingml/2006/main">
              <a:ext uri="{FF2B5EF4-FFF2-40B4-BE49-F238E27FC236}">
                <a16:creationId xmlns:a16="http://schemas.microsoft.com/office/drawing/2014/main" id="{B6F9B2BD-CB77-4535-910B-113E6655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B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OCCUPANCY</a:t>
            </a:r>
          </a:p>
        </p:txBody>
      </p:sp>
      <p:sp>
        <p:nvSpPr>
          <p:cNvPr id="50" name="occupancy-title">
            <a:extLst xmlns:a="http://schemas.openxmlformats.org/drawingml/2006/main">
              <a:ext uri="{FF2B5EF4-FFF2-40B4-BE49-F238E27FC236}">
                <a16:creationId xmlns:a16="http://schemas.microsoft.com/office/drawing/2014/main" id="{3F30C110-8EF9-43F3-A9A9-F8943273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7215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2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Frozen FIVES estimator</a:t>
            </a:r>
          </a:p>
        </p:txBody>
      </p:sp>
      <p:sp>
        <p:nvSpPr>
          <p:cNvPr id="51" name="occupancy-formula">
            <a:extLst xmlns:a="http://schemas.openxmlformats.org/drawingml/2006/main">
              <a:ext uri="{FF2B5EF4-FFF2-40B4-BE49-F238E27FC236}">
                <a16:creationId xmlns:a16="http://schemas.microsoft.com/office/drawing/2014/main" id="{6A29BF7F-F0EB-4288-9C1E-90A445A6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436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O = P(vessel | I*)</a:t>
            </a:r>
          </a:p>
        </p:txBody>
      </p:sp>
      <p:sp>
        <p:nvSpPr>
          <p:cNvPr id="52" name="occupancy-note">
            <a:extLst xmlns:a="http://schemas.openxmlformats.org/drawingml/2006/main">
              <a:ext uri="{FF2B5EF4-FFF2-40B4-BE49-F238E27FC236}">
                <a16:creationId xmlns:a16="http://schemas.microsoft.com/office/drawing/2014/main" id="{8AABDA29-6F79-4133-8ECD-6A447E5E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372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support only; no A/V identity</a:t>
            </a:r>
          </a:p>
        </p:txBody>
      </p:sp>
      <p:sp>
        <p:nvSpPr>
          <p:cNvPr id="53" name="branch-readout-divider">
            <a:extLst xmlns:a="http://schemas.openxmlformats.org/drawingml/2006/main">
              <a:ext uri="{FF2B5EF4-FFF2-40B4-BE49-F238E27FC236}">
                <a16:creationId xmlns:a16="http://schemas.microsoft.com/office/drawing/2014/main" id="{5D1015D1-2390-459D-A529-BEC71173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1333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identity-to-mass">
            <a:extLst xmlns:a="http://schemas.openxmlformats.org/drawingml/2006/main">
              <a:ext uri="{FF2B5EF4-FFF2-40B4-BE49-F238E27FC236}">
                <a16:creationId xmlns:a16="http://schemas.microsoft.com/office/drawing/2014/main" id="{738E272A-31C5-4036-BA9F-2658EF8A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71950"/>
            <a:ext cx="3143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55" name="identity-to-factor">
            <a:extLst xmlns:a="http://schemas.openxmlformats.org/drawingml/2006/main">
              <a:ext uri="{FF2B5EF4-FFF2-40B4-BE49-F238E27FC236}">
                <a16:creationId xmlns:a16="http://schemas.microsoft.com/office/drawing/2014/main" id="{CF41B8E0-1024-498D-89EC-58774C39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62600"/>
            <a:ext cx="3143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56" name="occupancy-to-factor">
            <a:extLst xmlns:a="http://schemas.openxmlformats.org/drawingml/2006/main">
              <a:ext uri="{FF2B5EF4-FFF2-40B4-BE49-F238E27FC236}">
                <a16:creationId xmlns:a16="http://schemas.microsoft.com/office/drawing/2014/main" id="{8989F916-0188-418C-A246-AC0E6538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981700"/>
            <a:ext cx="3143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4763">
            <a:solidFill>
              <a:srgbClr val="0B8F8B"/>
            </a:solidFill>
            <a:prstDash val="solid"/>
          </a:ln>
        </p:spPr>
      </p:sp>
      <p:sp>
        <p:nvSpPr>
          <p:cNvPr id="57" name="mass-card">
            <a:extLst xmlns:a="http://schemas.openxmlformats.org/drawingml/2006/main">
              <a:ext uri="{FF2B5EF4-FFF2-40B4-BE49-F238E27FC236}">
                <a16:creationId xmlns:a16="http://schemas.microsoft.com/office/drawing/2014/main" id="{C4738743-1026-48A5-A204-053A5910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619500" cy="1409700"/>
          </a:xfrm>
          <a:prstGeom xmlns:a="http://schemas.openxmlformats.org/drawingml/2006/main" prst="roundRect">
            <a:avLst>
              <a:gd name="adj" fmla="val 11486"/>
            </a:avLst>
          </a:prstGeom>
          <a:solidFill xmlns:a="http://schemas.openxmlformats.org/drawingml/2006/main">
            <a:srgbClr val="FBF3DE"/>
          </a:solidFill>
          <a:ln xmlns:a="http://schemas.openxmlformats.org/drawingml/2006/main" w="20003">
            <a:solidFill>
              <a:srgbClr val="B98525"/>
            </a:solidFill>
            <a:prstDash val="solid"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ee663c9dd46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374332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</p:spPr>
      </p:pic>
      <p:sp>
        <p:nvSpPr>
          <p:cNvPr id="59" name="mass-overlay-border">
            <a:extLst xmlns:a="http://schemas.openxmlformats.org/drawingml/2006/main">
              <a:ext uri="{FF2B5EF4-FFF2-40B4-BE49-F238E27FC236}">
                <a16:creationId xmlns:a16="http://schemas.microsoft.com/office/drawing/2014/main" id="{5FD22352-3C62-4569-88A5-CEB5AB30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4332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98525"/>
            </a:solidFill>
            <a:prstDash val="solid"/>
          </a:ln>
        </p:spPr>
      </p:sp>
      <p:sp>
        <p:nvSpPr>
          <p:cNvPr id="60" name="mass-badge">
            <a:extLst xmlns:a="http://schemas.openxmlformats.org/drawingml/2006/main">
              <a:ext uri="{FF2B5EF4-FFF2-40B4-BE49-F238E27FC236}">
                <a16:creationId xmlns:a16="http://schemas.microsoft.com/office/drawing/2014/main" id="{B1AEDD90-8F5B-46C8-BAE5-700F994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2427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852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READOUT 1</a:t>
            </a:r>
          </a:p>
        </p:txBody>
      </p:sp>
      <p:sp>
        <p:nvSpPr>
          <p:cNvPr id="61" name="mass-title">
            <a:extLst xmlns:a="http://schemas.openxmlformats.org/drawingml/2006/main">
              <a:ext uri="{FF2B5EF4-FFF2-40B4-BE49-F238E27FC236}">
                <a16:creationId xmlns:a16="http://schemas.microsoft.com/office/drawing/2014/main" id="{C85D367E-15E9-4FF2-A1AE-85A6902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95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Mass-UDCT</a:t>
            </a:r>
          </a:p>
        </p:txBody>
      </p:sp>
      <p:sp>
        <p:nvSpPr>
          <p:cNvPr id="62" name="mass-formula">
            <a:extLst xmlns:a="http://schemas.openxmlformats.org/drawingml/2006/main">
              <a:ext uri="{FF2B5EF4-FFF2-40B4-BE49-F238E27FC236}">
                <a16:creationId xmlns:a16="http://schemas.microsoft.com/office/drawing/2014/main" id="{BF818E0A-C01F-4742-B588-1CC61094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3865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M = P(A,V,C | I*)</a:t>
            </a:r>
          </a:p>
        </p:txBody>
      </p:sp>
      <p:sp>
        <p:nvSpPr>
          <p:cNvPr id="63" name="mass-note">
            <a:extLst xmlns:a="http://schemas.openxmlformats.org/drawingml/2006/main">
              <a:ext uri="{FF2B5EF4-FFF2-40B4-BE49-F238E27FC236}">
                <a16:creationId xmlns:a16="http://schemas.microsoft.com/office/drawing/2014/main" id="{5E37C2FC-7857-4F3A-B30D-152FBDF0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24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retains calibrated mass</a:t>
            </a:r>
          </a:p>
        </p:txBody>
      </p:sp>
      <p:sp>
        <p:nvSpPr>
          <p:cNvPr id="64" name="factorized-card">
            <a:extLst xmlns:a="http://schemas.openxmlformats.org/drawingml/2006/main">
              <a:ext uri="{FF2B5EF4-FFF2-40B4-BE49-F238E27FC236}">
                <a16:creationId xmlns:a16="http://schemas.microsoft.com/office/drawing/2014/main" id="{6C93714C-61D0-4041-8DD9-C972411F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3619500" cy="1409700"/>
          </a:xfrm>
          <a:prstGeom xmlns:a="http://schemas.openxmlformats.org/drawingml/2006/main" prst="roundRect">
            <a:avLst>
              <a:gd name="adj" fmla="val 11486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20003">
            <a:solidFill>
              <a:srgbClr val="0B8F8B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d03cbc4ef49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540067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</p:spPr>
      </p:pic>
      <p:sp>
        <p:nvSpPr>
          <p:cNvPr id="66" name="factorized-overlay-border">
            <a:extLst xmlns:a="http://schemas.openxmlformats.org/drawingml/2006/main">
              <a:ext uri="{FF2B5EF4-FFF2-40B4-BE49-F238E27FC236}">
                <a16:creationId xmlns:a16="http://schemas.microsoft.com/office/drawing/2014/main" id="{6F30A360-D079-49EF-898D-C897A350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00675"/>
            <a:ext cx="1066800" cy="1066800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67" name="factorized-badge">
            <a:extLst xmlns:a="http://schemas.openxmlformats.org/drawingml/2006/main">
              <a:ext uri="{FF2B5EF4-FFF2-40B4-BE49-F238E27FC236}">
                <a16:creationId xmlns:a16="http://schemas.microsoft.com/office/drawing/2014/main" id="{BE41EA2E-2EF3-4647-AF6D-4B87374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816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B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READOUT 2</a:t>
            </a:r>
          </a:p>
        </p:txBody>
      </p:sp>
      <p:sp>
        <p:nvSpPr>
          <p:cNvPr id="68" name="factorized-title">
            <a:extLst xmlns:a="http://schemas.openxmlformats.org/drawingml/2006/main">
              <a:ext uri="{FF2B5EF4-FFF2-40B4-BE49-F238E27FC236}">
                <a16:creationId xmlns:a16="http://schemas.microsoft.com/office/drawing/2014/main" id="{A305F850-A5AB-435D-A402-8EDA8C4D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73405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Factorized-UDCT</a:t>
            </a:r>
          </a:p>
        </p:txBody>
      </p:sp>
      <p:sp>
        <p:nvSpPr>
          <p:cNvPr id="69" name="factorized-formula">
            <a:extLst xmlns:a="http://schemas.openxmlformats.org/drawingml/2006/main">
              <a:ext uri="{FF2B5EF4-FFF2-40B4-BE49-F238E27FC236}">
                <a16:creationId xmlns:a16="http://schemas.microsoft.com/office/drawing/2014/main" id="{271DB64E-D0C5-453D-B1FD-46C4717E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057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F = O × P(identity | vessel)</a:t>
            </a:r>
          </a:p>
        </p:txBody>
      </p:sp>
      <p:sp>
        <p:nvSpPr>
          <p:cNvPr id="70" name="factorized-note">
            <a:extLst xmlns:a="http://schemas.openxmlformats.org/drawingml/2006/main">
              <a:ext uri="{FF2B5EF4-FFF2-40B4-BE49-F238E27FC236}">
                <a16:creationId xmlns:a16="http://schemas.microsoft.com/office/drawing/2014/main" id="{B0EE8D53-DF27-43A4-B8D0-847196C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24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requires vessel support first</a:t>
            </a:r>
          </a:p>
        </p:txBody>
      </p:sp>
      <p:sp>
        <p:nvSpPr>
          <p:cNvPr id="71" name="readouts-to-operators-top">
            <a:extLst xmlns:a="http://schemas.openxmlformats.org/drawingml/2006/main">
              <a:ext uri="{FF2B5EF4-FFF2-40B4-BE49-F238E27FC236}">
                <a16:creationId xmlns:a16="http://schemas.microsoft.com/office/drawing/2014/main" id="{765EA522-49F4-4C4F-9D0F-C1FED6E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1719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8525"/>
          </a:solidFill>
          <a:ln xmlns:a="http://schemas.openxmlformats.org/drawingml/2006/main" w="4763">
            <a:solidFill>
              <a:srgbClr val="B98525"/>
            </a:solidFill>
            <a:prstDash val="solid"/>
          </a:ln>
        </p:spPr>
      </p:sp>
      <p:sp>
        <p:nvSpPr>
          <p:cNvPr id="72" name="readouts-to-operators-bottom">
            <a:extLst xmlns:a="http://schemas.openxmlformats.org/drawingml/2006/main">
              <a:ext uri="{FF2B5EF4-FFF2-40B4-BE49-F238E27FC236}">
                <a16:creationId xmlns:a16="http://schemas.microsoft.com/office/drawing/2014/main" id="{1689CD82-DCA1-41FE-957A-D05157DA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58293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4763">
            <a:solidFill>
              <a:srgbClr val="0B8F8B"/>
            </a:solidFill>
            <a:prstDash val="solid"/>
          </a:ln>
        </p:spPr>
      </p:sp>
      <p:sp>
        <p:nvSpPr>
          <p:cNvPr id="73" name="operators-card">
            <a:extLst xmlns:a="http://schemas.openxmlformats.org/drawingml/2006/main">
              <a:ext uri="{FF2B5EF4-FFF2-40B4-BE49-F238E27FC236}">
                <a16:creationId xmlns:a16="http://schemas.microsoft.com/office/drawing/2014/main" id="{0FDC01E9-808C-41AE-AEE3-8B5A6BBB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48075"/>
            <a:ext cx="43243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F6F9F"/>
            </a:solidFill>
            <a:prstDash val="solid"/>
          </a:ln>
        </p:spPr>
      </p:sp>
      <p:sp>
        <p:nvSpPr>
          <p:cNvPr id="74" name="operators-badge">
            <a:extLst xmlns:a="http://schemas.openxmlformats.org/drawingml/2006/main">
              <a:ext uri="{FF2B5EF4-FFF2-40B4-BE49-F238E27FC236}">
                <a16:creationId xmlns:a16="http://schemas.microsoft.com/office/drawing/2014/main" id="{4296D183-39CA-424C-B081-2DC6AC10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819525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PRESPECIFIED OPERATORS</a:t>
            </a:r>
          </a:p>
        </p:txBody>
      </p:sp>
      <p:sp>
        <p:nvSpPr>
          <p:cNvPr id="75" name="operators-title">
            <a:extLst xmlns:a="http://schemas.openxmlformats.org/drawingml/2006/main">
              <a:ext uri="{FF2B5EF4-FFF2-40B4-BE49-F238E27FC236}">
                <a16:creationId xmlns:a16="http://schemas.microsoft.com/office/drawing/2014/main" id="{7183384F-99CC-46BA-84FA-FEAA4B7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191000"/>
            <a:ext cx="376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Phenotype candidates</a:t>
            </a:r>
          </a:p>
        </p:txBody>
      </p:sp>
      <p:sp>
        <p:nvSpPr>
          <p:cNvPr id="76" name="operator-0">
            <a:extLst xmlns:a="http://schemas.openxmlformats.org/drawingml/2006/main">
              <a:ext uri="{FF2B5EF4-FFF2-40B4-BE49-F238E27FC236}">
                <a16:creationId xmlns:a16="http://schemas.microsoft.com/office/drawing/2014/main" id="{E2B481E3-766D-4F75-97C9-58CEA75A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657725"/>
            <a:ext cx="1781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DE"/>
          </a:solidFill>
          <a:ln xmlns:a="http://schemas.openxmlformats.org/drawingml/2006/main" w="9525">
            <a:solidFill>
              <a:srgbClr val="B9852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vessel mass</a:t>
            </a:r>
          </a:p>
        </p:txBody>
      </p:sp>
      <p:sp>
        <p:nvSpPr>
          <p:cNvPr id="77" name="operator-1">
            <a:extLst xmlns:a="http://schemas.openxmlformats.org/drawingml/2006/main">
              <a:ext uri="{FF2B5EF4-FFF2-40B4-BE49-F238E27FC236}">
                <a16:creationId xmlns:a16="http://schemas.microsoft.com/office/drawing/2014/main" id="{C81CA57A-8F74-4770-9FF9-E87676A5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6577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0B8F8B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skeleton density</a:t>
            </a:r>
          </a:p>
        </p:txBody>
      </p:sp>
      <p:sp>
        <p:nvSpPr>
          <p:cNvPr id="78" name="operator-2">
            <a:extLst xmlns:a="http://schemas.openxmlformats.org/drawingml/2006/main">
              <a:ext uri="{FF2B5EF4-FFF2-40B4-BE49-F238E27FC236}">
                <a16:creationId xmlns:a16="http://schemas.microsoft.com/office/drawing/2014/main" id="{A24B0939-4E6D-4CC8-8172-A83A70F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114925"/>
            <a:ext cx="1781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branch density</a:t>
            </a:r>
          </a:p>
        </p:txBody>
      </p:sp>
      <p:sp>
        <p:nvSpPr>
          <p:cNvPr id="79" name="operator-3">
            <a:extLst xmlns:a="http://schemas.openxmlformats.org/drawingml/2006/main">
              <a:ext uri="{FF2B5EF4-FFF2-40B4-BE49-F238E27FC236}">
                <a16:creationId xmlns:a16="http://schemas.microsoft.com/office/drawing/2014/main" id="{89D5AADB-8899-4078-B920-17E5E0FE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1149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A/V balance</a:t>
            </a:r>
          </a:p>
        </p:txBody>
      </p:sp>
      <p:sp>
        <p:nvSpPr>
          <p:cNvPr id="80" name="operator-4">
            <a:extLst xmlns:a="http://schemas.openxmlformats.org/drawingml/2006/main">
              <a:ext uri="{FF2B5EF4-FFF2-40B4-BE49-F238E27FC236}">
                <a16:creationId xmlns:a16="http://schemas.microsoft.com/office/drawing/2014/main" id="{F5D68A4F-0556-459E-886F-900A9A04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572125"/>
            <a:ext cx="1781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DEB"/>
          </a:solidFill>
          <a:ln xmlns:a="http://schemas.openxmlformats.org/drawingml/2006/main" w="9525">
            <a:solidFill>
              <a:srgbClr val="B75D53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5D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5D53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81" name="operator-5">
            <a:extLst xmlns:a="http://schemas.openxmlformats.org/drawingml/2006/main">
              <a:ext uri="{FF2B5EF4-FFF2-40B4-BE49-F238E27FC236}">
                <a16:creationId xmlns:a16="http://schemas.microsoft.com/office/drawing/2014/main" id="{C6694F5B-31FF-4E7D-883D-FE6810A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5721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41806A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931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80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806A"/>
                </a:solidFill>
                <a:latin typeface="Arial"/>
                <a:ea typeface="Arial"/>
                <a:cs typeface="Arial"/>
              </a:rPr>
              <a:t>readout disagreement</a:t>
            </a:r>
          </a:p>
        </p:txBody>
      </p:sp>
      <p:sp>
        <p:nvSpPr>
          <p:cNvPr id="82" name="operators-note">
            <a:extLst xmlns:a="http://schemas.openxmlformats.org/drawingml/2006/main">
              <a:ext uri="{FF2B5EF4-FFF2-40B4-BE49-F238E27FC236}">
                <a16:creationId xmlns:a16="http://schemas.microsoft.com/office/drawing/2014/main" id="{BB843428-477F-49F3-93DF-428A42D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0388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Agreement and disagreement are retained separately; neither branch is allowed to silently redefine the other.</a:t>
            </a:r>
          </a:p>
        </p:txBody>
      </p:sp>
      <p:sp>
        <p:nvSpPr>
          <p:cNvPr id="83" name="identity-support-statement">
            <a:extLst xmlns:a="http://schemas.openxmlformats.org/drawingml/2006/main">
              <a:ext uri="{FF2B5EF4-FFF2-40B4-BE49-F238E27FC236}">
                <a16:creationId xmlns:a16="http://schemas.microsoft.com/office/drawing/2014/main" id="{E26F26B0-6539-43C5-8E87-F7041B43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734175"/>
            <a:ext cx="132302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</p:sp>
      <p:sp>
        <p:nvSpPr>
          <p:cNvPr id="84" name="identity-support-statement-text">
            <a:extLst xmlns:a="http://schemas.openxmlformats.org/drawingml/2006/main">
              <a:ext uri="{FF2B5EF4-FFF2-40B4-BE49-F238E27FC236}">
                <a16:creationId xmlns:a16="http://schemas.microsoft.com/office/drawing/2014/main" id="{555AC8CC-C39A-4E9D-8757-FC323497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15125"/>
            <a:ext cx="1294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Identity ≠ vessel support. The two readouts remain explicit until reliability is established.</a:t>
            </a:r>
          </a:p>
        </p:txBody>
      </p:sp>
      <p:sp>
        <p:nvSpPr>
          <p:cNvPr id="85" name="panel-c">
            <a:extLst xmlns:a="http://schemas.openxmlformats.org/drawingml/2006/main">
              <a:ext uri="{FF2B5EF4-FFF2-40B4-BE49-F238E27FC236}">
                <a16:creationId xmlns:a16="http://schemas.microsoft.com/office/drawing/2014/main" id="{07B01FEB-7D97-4112-B86C-A8D8CCEE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67550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6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6E4D444B-C31C-448F-9920-1B44A414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247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BiRAP gates features before any clinical outcome is modelled</a:t>
            </a:r>
          </a:p>
        </p:txBody>
      </p:sp>
      <p:sp>
        <p:nvSpPr>
          <p:cNvPr id="87" name="panel-c-note">
            <a:extLst xmlns:a="http://schemas.openxmlformats.org/drawingml/2006/main">
              <a:ext uri="{FF2B5EF4-FFF2-40B4-BE49-F238E27FC236}">
                <a16:creationId xmlns:a16="http://schemas.microsoft.com/office/drawing/2014/main" id="{078F2057-F781-4D20-9008-01EC3C0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219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69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same-eye repeatability · outcome blind · patient grouped</a:t>
            </a:r>
          </a:p>
        </p:txBody>
      </p:sp>
      <p:sp>
        <p:nvSpPr>
          <p:cNvPr id="88" name="birap-panel">
            <a:extLst xmlns:a="http://schemas.openxmlformats.org/drawingml/2006/main">
              <a:ext uri="{FF2B5EF4-FFF2-40B4-BE49-F238E27FC236}">
                <a16:creationId xmlns:a16="http://schemas.microsoft.com/office/drawing/2014/main" id="{04CA8897-ED1F-4F17-945E-F901B76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77150"/>
            <a:ext cx="15963900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BFAFD"/>
          </a:solidFill>
          <a:ln xmlns:a="http://schemas.openxmlformats.org/drawingml/2006/main" w="17145">
            <a:solidFill>
              <a:srgbClr val="D5CBE4"/>
            </a:solidFill>
            <a:prstDash val="solid"/>
          </a:ln>
        </p:spPr>
      </p:sp>
      <p:sp>
        <p:nvSpPr>
          <p:cNvPr id="89" name="outcome-blind-badge">
            <a:extLst xmlns:a="http://schemas.openxmlformats.org/drawingml/2006/main">
              <a:ext uri="{FF2B5EF4-FFF2-40B4-BE49-F238E27FC236}">
                <a16:creationId xmlns:a16="http://schemas.microsoft.com/office/drawing/2014/main" id="{7BC3C6EA-6524-47E9-957D-E5492633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OUTCOME BLIND</a:t>
            </a:r>
          </a:p>
        </p:txBody>
      </p:sp>
      <p:sp>
        <p:nvSpPr>
          <p:cNvPr id="90" name="same-eye-card">
            <a:extLst xmlns:a="http://schemas.openxmlformats.org/drawingml/2006/main">
              <a:ext uri="{FF2B5EF4-FFF2-40B4-BE49-F238E27FC236}">
                <a16:creationId xmlns:a16="http://schemas.microsoft.com/office/drawing/2014/main" id="{60101B84-A679-45EF-B468-F9B4B53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43875"/>
            <a:ext cx="2714625" cy="952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9F"/>
            </a:solidFill>
            <a:prstDash val="solid"/>
          </a:ln>
        </p:spPr>
      </p:sp>
      <p:sp>
        <p:nvSpPr>
          <p:cNvPr id="91" name="same-eye-icons">
            <a:extLst xmlns:a="http://schemas.openxmlformats.org/drawingml/2006/main">
              <a:ext uri="{FF2B5EF4-FFF2-40B4-BE49-F238E27FC236}">
                <a16:creationId xmlns:a16="http://schemas.microsoft.com/office/drawing/2014/main" id="{427D9DE0-7C32-4F74-B3C1-2F150DD8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172450"/>
            <a:ext cx="2362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◉    ↻    ◉</a:t>
            </a:r>
          </a:p>
        </p:txBody>
      </p:sp>
      <p:sp>
        <p:nvSpPr>
          <p:cNvPr id="92" name="same-eye-title">
            <a:extLst xmlns:a="http://schemas.openxmlformats.org/drawingml/2006/main">
              <a:ext uri="{FF2B5EF4-FFF2-40B4-BE49-F238E27FC236}">
                <a16:creationId xmlns:a16="http://schemas.microsoft.com/office/drawing/2014/main" id="{E1F4E088-9791-4080-B607-23814FF8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62975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same eye, paired views</a:t>
            </a:r>
          </a:p>
        </p:txBody>
      </p:sp>
      <p:sp>
        <p:nvSpPr>
          <p:cNvPr id="93" name="same-eye-count">
            <a:extLst xmlns:a="http://schemas.openxmlformats.org/drawingml/2006/main">
              <a:ext uri="{FF2B5EF4-FFF2-40B4-BE49-F238E27FC236}">
                <a16:creationId xmlns:a16="http://schemas.microsoft.com/office/drawing/2014/main" id="{96A1D0AD-13B6-4630-99E6-605CF3F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8296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2,359 pairs</a:t>
            </a:r>
          </a:p>
        </p:txBody>
      </p:sp>
      <p:sp>
        <p:nvSpPr>
          <p:cNvPr id="94" name="same-eye-to-icc">
            <a:extLst xmlns:a="http://schemas.openxmlformats.org/drawingml/2006/main">
              <a:ext uri="{FF2B5EF4-FFF2-40B4-BE49-F238E27FC236}">
                <a16:creationId xmlns:a16="http://schemas.microsoft.com/office/drawing/2014/main" id="{D0168C0D-C2FA-412C-9F1A-7A948656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8505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95" name="icc-card">
            <a:extLst xmlns:a="http://schemas.openxmlformats.org/drawingml/2006/main">
              <a:ext uri="{FF2B5EF4-FFF2-40B4-BE49-F238E27FC236}">
                <a16:creationId xmlns:a16="http://schemas.microsoft.com/office/drawing/2014/main" id="{8D00A807-FD00-405E-9EB7-27AD3B4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077200"/>
            <a:ext cx="2857500" cy="1019175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7145">
            <a:solidFill>
              <a:srgbClr val="6F52A1"/>
            </a:solidFill>
            <a:prstDash val="solid"/>
          </a:ln>
        </p:spPr>
      </p:sp>
      <p:sp>
        <p:nvSpPr>
          <p:cNvPr id="96" name="icc-title">
            <a:extLst xmlns:a="http://schemas.openxmlformats.org/drawingml/2006/main">
              <a:ext uri="{FF2B5EF4-FFF2-40B4-BE49-F238E27FC236}">
                <a16:creationId xmlns:a16="http://schemas.microsoft.com/office/drawing/2014/main" id="{558C4625-88B0-48CB-BC9A-14F6B914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172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Reliability statistic</a:t>
            </a:r>
          </a:p>
        </p:txBody>
      </p:sp>
      <p:sp>
        <p:nvSpPr>
          <p:cNvPr id="97" name="icc-formula">
            <a:extLst xmlns:a="http://schemas.openxmlformats.org/drawingml/2006/main">
              <a:ext uri="{FF2B5EF4-FFF2-40B4-BE49-F238E27FC236}">
                <a16:creationId xmlns:a16="http://schemas.microsoft.com/office/drawing/2014/main" id="{35538390-87A6-40CD-8AA6-5DC4BA5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477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ICC(1,1) ≥ 0.60</a:t>
            </a:r>
          </a:p>
        </p:txBody>
      </p:sp>
      <p:sp>
        <p:nvSpPr>
          <p:cNvPr id="98" name="icc-note">
            <a:extLst xmlns:a="http://schemas.openxmlformats.org/drawingml/2006/main">
              <a:ext uri="{FF2B5EF4-FFF2-40B4-BE49-F238E27FC236}">
                <a16:creationId xmlns:a16="http://schemas.microsoft.com/office/drawing/2014/main" id="{16B38968-6E95-4ABD-B8AC-B53D7569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81062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for each prespecified feature</a:t>
            </a:r>
          </a:p>
        </p:txBody>
      </p:sp>
      <p:sp>
        <p:nvSpPr>
          <p:cNvPr id="99" name="icc-to-core">
            <a:extLst xmlns:a="http://schemas.openxmlformats.org/drawingml/2006/main">
              <a:ext uri="{FF2B5EF4-FFF2-40B4-BE49-F238E27FC236}">
                <a16:creationId xmlns:a16="http://schemas.microsoft.com/office/drawing/2014/main" id="{F812AA4B-E1A4-4BEE-95DE-DCC0963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505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100" name="core-card">
            <a:extLst xmlns:a="http://schemas.openxmlformats.org/drawingml/2006/main">
              <a:ext uri="{FF2B5EF4-FFF2-40B4-BE49-F238E27FC236}">
                <a16:creationId xmlns:a16="http://schemas.microsoft.com/office/drawing/2014/main" id="{DF7009F3-F3B2-4A21-9011-3F167A0F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8077200"/>
            <a:ext cx="2857500" cy="1019175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17145">
            <a:solidFill>
              <a:srgbClr val="0B8F8B"/>
            </a:solidFill>
            <a:prstDash val="solid"/>
          </a:ln>
        </p:spPr>
      </p:sp>
      <p:sp>
        <p:nvSpPr>
          <p:cNvPr id="101" name="core-title">
            <a:extLst xmlns:a="http://schemas.openxmlformats.org/drawingml/2006/main">
              <a:ext uri="{FF2B5EF4-FFF2-40B4-BE49-F238E27FC236}">
                <a16:creationId xmlns:a16="http://schemas.microsoft.com/office/drawing/2014/main" id="{0305F8A4-1428-4AD1-8424-4021B066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8172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Retained reliable core</a:t>
            </a:r>
          </a:p>
        </p:txBody>
      </p:sp>
      <p:sp>
        <p:nvSpPr>
          <p:cNvPr id="102" name="core-count">
            <a:extLst xmlns:a="http://schemas.openxmlformats.org/drawingml/2006/main">
              <a:ext uri="{FF2B5EF4-FFF2-40B4-BE49-F238E27FC236}">
                <a16:creationId xmlns:a16="http://schemas.microsoft.com/office/drawing/2014/main" id="{51D4552F-075E-46CE-8EB5-9B268B0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8477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4 of 9 phenotypes</a:t>
            </a:r>
          </a:p>
        </p:txBody>
      </p:sp>
      <p:sp>
        <p:nvSpPr>
          <p:cNvPr id="103" name="core-note">
            <a:extLst xmlns:a="http://schemas.openxmlformats.org/drawingml/2006/main">
              <a:ext uri="{FF2B5EF4-FFF2-40B4-BE49-F238E27FC236}">
                <a16:creationId xmlns:a16="http://schemas.microsoft.com/office/drawing/2014/main" id="{C5D7B2EF-8EDF-48EF-93C7-E0E4888F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881062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fixed before labels are fitted</a:t>
            </a:r>
          </a:p>
        </p:txBody>
      </p:sp>
      <p:sp>
        <p:nvSpPr>
          <p:cNvPr id="104" name="core-to-patient">
            <a:extLst xmlns:a="http://schemas.openxmlformats.org/drawingml/2006/main">
              <a:ext uri="{FF2B5EF4-FFF2-40B4-BE49-F238E27FC236}">
                <a16:creationId xmlns:a16="http://schemas.microsoft.com/office/drawing/2014/main" id="{230CB477-2091-4C40-9A9F-BBA45E41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8505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06A"/>
          </a:solidFill>
          <a:ln xmlns:a="http://schemas.openxmlformats.org/drawingml/2006/main" w="4763">
            <a:solidFill>
              <a:srgbClr val="41806A"/>
            </a:solidFill>
            <a:prstDash val="solid"/>
          </a:ln>
        </p:spPr>
      </p:sp>
      <p:sp>
        <p:nvSpPr>
          <p:cNvPr id="105" name="patient-card">
            <a:extLst xmlns:a="http://schemas.openxmlformats.org/drawingml/2006/main">
              <a:ext uri="{FF2B5EF4-FFF2-40B4-BE49-F238E27FC236}">
                <a16:creationId xmlns:a16="http://schemas.microsoft.com/office/drawing/2014/main" id="{EAD08784-A719-4873-A71D-EB0507B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077200"/>
            <a:ext cx="5238750" cy="1019175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7145">
            <a:solidFill>
              <a:srgbClr val="41806A"/>
            </a:solidFill>
            <a:prstDash val="solid"/>
          </a:ln>
        </p:spPr>
      </p:sp>
      <p:sp>
        <p:nvSpPr>
          <p:cNvPr id="106" name="patient-title">
            <a:extLst xmlns:a="http://schemas.openxmlformats.org/drawingml/2006/main">
              <a:ext uri="{FF2B5EF4-FFF2-40B4-BE49-F238E27FC236}">
                <a16:creationId xmlns:a16="http://schemas.microsoft.com/office/drawing/2014/main" id="{7DBFEDC6-6651-4B8F-8B11-8AA4409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172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Patient-level phenotype vector</a:t>
            </a:r>
          </a:p>
        </p:txBody>
      </p:sp>
      <p:sp>
        <p:nvSpPr>
          <p:cNvPr id="107" name="patient-formula">
            <a:extLst xmlns:a="http://schemas.openxmlformats.org/drawingml/2006/main">
              <a:ext uri="{FF2B5EF4-FFF2-40B4-BE49-F238E27FC236}">
                <a16:creationId xmlns:a16="http://schemas.microsoft.com/office/drawing/2014/main" id="{45D61DD9-BF48-4728-9C53-0637A25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47725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1806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1806A"/>
                </a:solidFill>
                <a:latin typeface="Arial"/>
                <a:ea typeface="Arial"/>
                <a:cs typeface="Arial"/>
              </a:rPr>
              <a:t>bilateral mean + |L − R|</a:t>
            </a:r>
          </a:p>
        </p:txBody>
      </p:sp>
      <p:sp>
        <p:nvSpPr>
          <p:cNvPr id="108" name="patient-note">
            <a:extLst xmlns:a="http://schemas.openxmlformats.org/drawingml/2006/main">
              <a:ext uri="{FF2B5EF4-FFF2-40B4-BE49-F238E27FC236}">
                <a16:creationId xmlns:a16="http://schemas.microsoft.com/office/drawing/2014/main" id="{46C81D3B-010D-4EBB-ABB3-6A28EE07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810625"/>
            <a:ext cx="485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patient-grouped folds · no view leakage</a:t>
            </a:r>
          </a:p>
        </p:txBody>
      </p:sp>
      <p:sp>
        <p:nvSpPr>
          <p:cNvPr id="109" name="icc-to-stop">
            <a:extLst xmlns:a="http://schemas.openxmlformats.org/drawingml/2006/main">
              <a:ext uri="{FF2B5EF4-FFF2-40B4-BE49-F238E27FC236}">
                <a16:creationId xmlns:a16="http://schemas.microsoft.com/office/drawing/2014/main" id="{6EB2BC25-FC7B-4901-9D46-FFFC14CE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9115425"/>
            <a:ext cx="2095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5D53"/>
          </a:solidFill>
          <a:ln xmlns:a="http://schemas.openxmlformats.org/drawingml/2006/main" w="4763">
            <a:solidFill>
              <a:srgbClr val="B75D53"/>
            </a:solidFill>
            <a:prstDash val="solid"/>
          </a:ln>
        </p:spPr>
      </p:sp>
      <p:sp>
        <p:nvSpPr>
          <p:cNvPr id="110" name="stop-strip">
            <a:extLst xmlns:a="http://schemas.openxmlformats.org/drawingml/2006/main">
              <a:ext uri="{FF2B5EF4-FFF2-40B4-BE49-F238E27FC236}">
                <a16:creationId xmlns:a16="http://schemas.microsoft.com/office/drawing/2014/main" id="{966BCA15-5391-4FDB-BB3C-12469BE0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296400"/>
            <a:ext cx="12115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DEB"/>
          </a:solidFill>
          <a:ln xmlns:a="http://schemas.openxmlformats.org/drawingml/2006/main" w="9525">
            <a:solidFill>
              <a:srgbClr val="B75D53"/>
            </a:solidFill>
            <a:prstDash val="solid"/>
          </a:ln>
        </p:spPr>
      </p:sp>
      <p:sp>
        <p:nvSpPr>
          <p:cNvPr id="111" name="stop-strip-text">
            <a:extLst xmlns:a="http://schemas.openxmlformats.org/drawingml/2006/main">
              <a:ext uri="{FF2B5EF4-FFF2-40B4-BE49-F238E27FC236}">
                <a16:creationId xmlns:a16="http://schemas.microsoft.com/office/drawing/2014/main" id="{96443F7E-8CC4-411A-9EDE-E5108AD1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258300"/>
            <a:ext cx="1177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75D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5D53"/>
                </a:solidFill>
                <a:latin typeface="Arial"/>
                <a:ea typeface="Arial"/>
                <a:cs typeface="Arial"/>
              </a:rPr>
              <a:t>FAIL QC OR ICC → STOP: the feature does not enter outcome modelling.</a:t>
            </a:r>
          </a:p>
        </p:txBody>
      </p:sp>
    </p:spTree>
    <p:extLst>
      <p:ext uri="{BB962C8B-B14F-4D97-AF65-F5344CB8AC3E}">
        <p14:creationId xmlns:p14="http://schemas.microsoft.com/office/powerpoint/2010/main" val="1237600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2026-08-27T03:46:13.5470000Z</dcterms:created>
  <dcterms:modified xsi:type="dcterms:W3CDTF">2026-08-27T03:46:13.5470000Z</dcterms:modified>
</coreProperties>
</file>