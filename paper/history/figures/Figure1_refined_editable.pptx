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1714c9a5e84a0f" /><Relationship Type="http://schemas.openxmlformats.org/officeDocument/2006/relationships/extended-properties" Target="/docProps/app.xml" Id="R8245ebc218c44e39" /><Relationship Type="http://schemas.openxmlformats.org/officeDocument/2006/relationships/officeDocument" Target="/ppt/presentation.xml" Id="Rb7d9252269dc41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e7a61e1c54063"/>
  </p:sldMasterIdLst>
  <p:notesMasterIdLst>
    <p:notesMasterId xmlns:r="http://schemas.openxmlformats.org/officeDocument/2006/relationships" r:id="R7dd76d4b4c89450e"/>
  </p:notesMasterIdLst>
  <p:sldIdLst>
    <p:sldId xmlns:r="http://schemas.openxmlformats.org/officeDocument/2006/relationships" id="256" r:id="R00ae6255e5b546a7"/>
  </p:sldIdLst>
  <p:sldSz cx="171450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8555b470b4218" /><Relationship Type="http://schemas.openxmlformats.org/officeDocument/2006/relationships/slideMaster" Target="/ppt/slideMasters/slideMaster1.xml" Id="R3c7e7a61e1c54063" /><Relationship Type="http://schemas.openxmlformats.org/officeDocument/2006/relationships/notesMaster" Target="/ppt/notesMasters/notesMaster1.xml" Id="R7dd76d4b4c89450e" /><Relationship Type="http://schemas.openxmlformats.org/officeDocument/2006/relationships/presProps" Target="/ppt/presProps.xml" Id="R6ef8bef862d84573" /><Relationship Type="http://schemas.openxmlformats.org/officeDocument/2006/relationships/tableStyles" Target="/ppt/tableStyles.xml" Id="R22b2e2a555c74c4f" /><Relationship Type="http://schemas.openxmlformats.org/officeDocument/2006/relationships/slide" Target="/ppt/slides/slide1.xml" Id="R00ae6255e5b5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522f24525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4da824dc84952" /><Relationship Type="http://schemas.openxmlformats.org/officeDocument/2006/relationships/notesMaster" Target="/ppt/notesMasters/notesMaster1.xml" Id="R90e766665072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/Users/tongyue/Documents/ppf/papers/RMDB/paper/figures/Figure1_refined_source_manifest.csv</a:t>
            </a:r>
          </a:p>
          <a:p xmlns:a="http://schemas.openxmlformats.org/drawingml/2006/main">
            <a:r>
              <a:t>/Users/tongyue/Documents/ppf/papers/RMDB/protocols/RMDB_BiRAP_forward_reverse_results_20260821.md</a:t>
            </a:r>
          </a:p>
          <a:p xmlns:a="http://schemas.openxmlformats.org/drawingml/2006/main">
            <a:r>
              <a:t>/Users/tongyue/Documents/ppf/papers/RMDB/paper/FINAL_QC_REPORT.md</a:t>
            </a:r>
          </a:p>
          <a:p xmlns:a="http://schemas.openxmlformats.org/drawingml/2006/main">
            <a:r>
              <a:t>All retinal photographs and processed maps are embedded from the local manuscript asset archive.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4ce3e9fe9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86549751c47f6" /><Relationship Type="http://schemas.openxmlformats.org/officeDocument/2006/relationships/slideLayout" Target="/ppt/slideLayouts/slideLayout1.xml" Id="Rc1514f2def52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14f2def52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37e509cfa444c" /><Relationship Type="http://schemas.openxmlformats.org/officeDocument/2006/relationships/image" Target="/ppt/media/image.png" Id="R83c2ae0433c24dd4" /><Relationship Type="http://schemas.openxmlformats.org/officeDocument/2006/relationships/image" Target="/ppt/media/image2.png" Id="R238ed6915ebf4a4e" /><Relationship Type="http://schemas.openxmlformats.org/officeDocument/2006/relationships/image" Target="/ppt/media/image3.png" Id="R6814ce3987eb4598" /><Relationship Type="http://schemas.openxmlformats.org/officeDocument/2006/relationships/image" Target="/ppt/media/image4.png" Id="R5c4cd8743d034397" /><Relationship Type="http://schemas.openxmlformats.org/officeDocument/2006/relationships/image" Target="/ppt/media/image5.png" Id="Rf638c82a46da42dc" /><Relationship Type="http://schemas.openxmlformats.org/officeDocument/2006/relationships/image" Target="/ppt/media/image6.png" Id="Re2f7604b08bf4c6d" /><Relationship Type="http://schemas.openxmlformats.org/officeDocument/2006/relationships/image" Target="/ppt/media/image7.png" Id="Rf06cb04000b64e0c" /><Relationship Type="http://schemas.openxmlformats.org/officeDocument/2006/relationships/image" Target="/ppt/media/image8.png" Id="Rc0f1ef0c388245d3" /><Relationship Type="http://schemas.openxmlformats.org/officeDocument/2006/relationships/image" Target="/ppt/media/image9.png" Id="R8ab1c09e24204710" /><Relationship Type="http://schemas.openxmlformats.org/officeDocument/2006/relationships/image" Target="/ppt/media/image10.png" Id="Rc619a7d7d0104b76" /><Relationship Type="http://schemas.openxmlformats.org/officeDocument/2006/relationships/image" Target="/ppt/media/image11.png" Id="R0ec9e658cb244c77" /><Relationship Type="http://schemas.openxmlformats.org/officeDocument/2006/relationships/image" Target="/ppt/media/image12.png" Id="Rde103d5b8c96446a" /><Relationship Type="http://schemas.openxmlformats.org/officeDocument/2006/relationships/notesSlide" Target="/ppt/notesSlides/notesSlide1.xml" Id="Re8f6976d004746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panel-a">
            <a:extLst xmlns:a="http://schemas.openxmlformats.org/drawingml/2006/main">
              <a:ext uri="{FF2B5EF4-FFF2-40B4-BE49-F238E27FC236}">
                <a16:creationId xmlns:a16="http://schemas.microsoft.com/office/drawing/2014/main" id="{04F25FEA-6358-4B97-877C-BB7A430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9CA2FA38-B6BB-456C-B187-073C44E2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Prespecified resource roles</a:t>
            </a:r>
          </a:p>
        </p:txBody>
      </p:sp>
      <p:sp>
        <p:nvSpPr>
          <p:cNvPr id="3" name="panel-a-note">
            <a:extLst xmlns:a="http://schemas.openxmlformats.org/drawingml/2006/main">
              <a:ext uri="{FF2B5EF4-FFF2-40B4-BE49-F238E27FC236}">
                <a16:creationId xmlns:a16="http://schemas.microsoft.com/office/drawing/2014/main" id="{7D142AAD-3FFD-4A19-80A4-C1B7DCC6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No cohort changes role after outcomes are inspected</a:t>
            </a:r>
          </a:p>
        </p:txBody>
      </p:sp>
      <p:sp>
        <p:nvSpPr>
          <p:cNvPr id="4" name="cohort-0-card">
            <a:extLst xmlns:a="http://schemas.openxmlformats.org/drawingml/2006/main">
              <a:ext uri="{FF2B5EF4-FFF2-40B4-BE49-F238E27FC236}">
                <a16:creationId xmlns:a16="http://schemas.microsoft.com/office/drawing/2014/main" id="{BFF281BF-E57C-4570-AF5E-DB883BF2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29146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13335">
            <a:solidFill>
              <a:srgbClr val="0B8F8B"/>
            </a:solidFill>
            <a:prstDash val="solid"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2ae0433c24dd4"/>
          <a:srcRect xmlns:a="http://schemas.openxmlformats.org/drawingml/2006/main" l="2885" t="0" r="2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</p:spPr>
      </p:pic>
      <p:sp>
        <p:nvSpPr>
          <p:cNvPr id="6" name="cohort-0-image-border">
            <a:extLst xmlns:a="http://schemas.openxmlformats.org/drawingml/2006/main">
              <a:ext uri="{FF2B5EF4-FFF2-40B4-BE49-F238E27FC236}">
                <a16:creationId xmlns:a16="http://schemas.microsoft.com/office/drawing/2014/main" id="{543F318D-7E90-4D1D-A17B-B7612651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7" name="cohort-0-name">
            <a:extLst xmlns:a="http://schemas.openxmlformats.org/drawingml/2006/main">
              <a:ext uri="{FF2B5EF4-FFF2-40B4-BE49-F238E27FC236}">
                <a16:creationId xmlns:a16="http://schemas.microsoft.com/office/drawing/2014/main" id="{4C5F1351-A1F0-4A48-99AB-26DCB6A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1334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FIVES</a:t>
            </a:r>
          </a:p>
        </p:txBody>
      </p:sp>
      <p:sp>
        <p:nvSpPr>
          <p:cNvPr id="8" name="cohort-0-sample">
            <a:extLst xmlns:a="http://schemas.openxmlformats.org/drawingml/2006/main">
              <a:ext uri="{FF2B5EF4-FFF2-40B4-BE49-F238E27FC236}">
                <a16:creationId xmlns:a16="http://schemas.microsoft.com/office/drawing/2014/main" id="{0FB5238C-D31D-4F6A-B455-0CAD3482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7637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800 images</a:t>
            </a:r>
          </a:p>
        </p:txBody>
      </p:sp>
      <p:sp>
        <p:nvSpPr>
          <p:cNvPr id="9" name="cohort-0-roles">
            <a:extLst xmlns:a="http://schemas.openxmlformats.org/drawingml/2006/main">
              <a:ext uri="{FF2B5EF4-FFF2-40B4-BE49-F238E27FC236}">
                <a16:creationId xmlns:a16="http://schemas.microsoft.com/office/drawing/2014/main" id="{DD8E4619-900F-4A48-BD3F-2FFA98F4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0022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Occupancy</a:t>
            </a:r>
          </a:p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10" name="cohort-0-accent">
            <a:extLst xmlns:a="http://schemas.openxmlformats.org/drawingml/2006/main">
              <a:ext uri="{FF2B5EF4-FFF2-40B4-BE49-F238E27FC236}">
                <a16:creationId xmlns:a16="http://schemas.microsoft.com/office/drawing/2014/main" id="{6FB11626-DD5D-47D1-AC75-331B20CE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647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hort-1-card">
            <a:extLst xmlns:a="http://schemas.openxmlformats.org/drawingml/2006/main">
              <a:ext uri="{FF2B5EF4-FFF2-40B4-BE49-F238E27FC236}">
                <a16:creationId xmlns:a16="http://schemas.microsoft.com/office/drawing/2014/main" id="{4133AED5-20D3-43CE-87D4-D28CB8B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028700"/>
            <a:ext cx="29146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3335">
            <a:solidFill>
              <a:srgbClr val="6F52A1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ed6915ebf4a4e"/>
          <a:srcRect xmlns:a="http://schemas.openxmlformats.org/drawingml/2006/main" l="2885" t="0" r="2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675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</p:spPr>
      </p:pic>
      <p:sp>
        <p:nvSpPr>
          <p:cNvPr id="13" name="cohort-1-image-border">
            <a:extLst xmlns:a="http://schemas.openxmlformats.org/drawingml/2006/main">
              <a:ext uri="{FF2B5EF4-FFF2-40B4-BE49-F238E27FC236}">
                <a16:creationId xmlns:a16="http://schemas.microsoft.com/office/drawing/2014/main" id="{7BE77DDB-98B3-4133-AC4B-E84B177B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F52A1"/>
            </a:solidFill>
            <a:prstDash val="solid"/>
          </a:ln>
        </p:spPr>
      </p:sp>
      <p:sp>
        <p:nvSpPr>
          <p:cNvPr id="14" name="cohort-1-name">
            <a:extLst xmlns:a="http://schemas.openxmlformats.org/drawingml/2006/main">
              <a:ext uri="{FF2B5EF4-FFF2-40B4-BE49-F238E27FC236}">
                <a16:creationId xmlns:a16="http://schemas.microsoft.com/office/drawing/2014/main" id="{4A2BAB5A-C2AC-411B-B715-F5FF19AE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1334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RAV</a:t>
            </a:r>
          </a:p>
        </p:txBody>
      </p:sp>
      <p:sp>
        <p:nvSpPr>
          <p:cNvPr id="15" name="cohort-1-sample">
            <a:extLst xmlns:a="http://schemas.openxmlformats.org/drawingml/2006/main">
              <a:ext uri="{FF2B5EF4-FFF2-40B4-BE49-F238E27FC236}">
                <a16:creationId xmlns:a16="http://schemas.microsoft.com/office/drawing/2014/main" id="{2665DCAC-3688-4DE7-AA5E-F9CCF16D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47637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206 images</a:t>
            </a:r>
          </a:p>
        </p:txBody>
      </p:sp>
      <p:sp>
        <p:nvSpPr>
          <p:cNvPr id="16" name="cohort-1-roles">
            <a:extLst xmlns:a="http://schemas.openxmlformats.org/drawingml/2006/main">
              <a:ext uri="{FF2B5EF4-FFF2-40B4-BE49-F238E27FC236}">
                <a16:creationId xmlns:a16="http://schemas.microsoft.com/office/drawing/2014/main" id="{3771DC2E-F682-4CEC-9BDD-4E74DEC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80022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Identity audit</a:t>
            </a:r>
          </a:p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UDCT development</a:t>
            </a:r>
          </a:p>
        </p:txBody>
      </p:sp>
      <p:sp>
        <p:nvSpPr>
          <p:cNvPr id="17" name="cohort-1-accent">
            <a:extLst xmlns:a="http://schemas.openxmlformats.org/drawingml/2006/main">
              <a:ext uri="{FF2B5EF4-FFF2-40B4-BE49-F238E27FC236}">
                <a16:creationId xmlns:a16="http://schemas.microsoft.com/office/drawing/2014/main" id="{31B149F1-8F53-4EEF-BDDE-F3AF4782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362200"/>
            <a:ext cx="2647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hort-2-card">
            <a:extLst xmlns:a="http://schemas.openxmlformats.org/drawingml/2006/main">
              <a:ext uri="{FF2B5EF4-FFF2-40B4-BE49-F238E27FC236}">
                <a16:creationId xmlns:a16="http://schemas.microsoft.com/office/drawing/2014/main" id="{F0EACA65-38E7-4A5B-8B3B-7FA3AEA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28700"/>
            <a:ext cx="29146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2F6F9F"/>
            </a:solidFill>
            <a:prstDash val="solid"/>
          </a:ln>
        </p:spPr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4ce3987eb4598"/>
          <a:srcRect xmlns:a="http://schemas.openxmlformats.org/drawingml/2006/main" l="2885" t="0" r="2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</p:spPr>
      </p:pic>
      <p:sp>
        <p:nvSpPr>
          <p:cNvPr id="20" name="cohort-2-image-border">
            <a:extLst xmlns:a="http://schemas.openxmlformats.org/drawingml/2006/main">
              <a:ext uri="{FF2B5EF4-FFF2-40B4-BE49-F238E27FC236}">
                <a16:creationId xmlns:a16="http://schemas.microsoft.com/office/drawing/2014/main" id="{827EF165-ED7A-41AF-BE23-8D4120F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21" name="cohort-2-name">
            <a:extLst xmlns:a="http://schemas.openxmlformats.org/drawingml/2006/main">
              <a:ext uri="{FF2B5EF4-FFF2-40B4-BE49-F238E27FC236}">
                <a16:creationId xmlns:a16="http://schemas.microsoft.com/office/drawing/2014/main" id="{2D834A32-603F-4CA4-BDE0-3DC03625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334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Fundus-AVSeg</a:t>
            </a:r>
          </a:p>
        </p:txBody>
      </p:sp>
      <p:sp>
        <p:nvSpPr>
          <p:cNvPr id="22" name="cohort-2-sample">
            <a:extLst xmlns:a="http://schemas.openxmlformats.org/drawingml/2006/main">
              <a:ext uri="{FF2B5EF4-FFF2-40B4-BE49-F238E27FC236}">
                <a16:creationId xmlns:a16="http://schemas.microsoft.com/office/drawing/2014/main" id="{E838B3FE-56B0-41D4-BC5C-44791941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7637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100 images</a:t>
            </a:r>
          </a:p>
        </p:txBody>
      </p:sp>
      <p:sp>
        <p:nvSpPr>
          <p:cNvPr id="23" name="cohort-2-roles">
            <a:extLst xmlns:a="http://schemas.openxmlformats.org/drawingml/2006/main">
              <a:ext uri="{FF2B5EF4-FFF2-40B4-BE49-F238E27FC236}">
                <a16:creationId xmlns:a16="http://schemas.microsoft.com/office/drawing/2014/main" id="{48899D35-E254-4AC6-BDB2-0670AC5C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022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Locked A/V</a:t>
            </a:r>
          </a:p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24" name="cohort-2-accent">
            <a:extLst xmlns:a="http://schemas.openxmlformats.org/drawingml/2006/main">
              <a:ext uri="{FF2B5EF4-FFF2-40B4-BE49-F238E27FC236}">
                <a16:creationId xmlns:a16="http://schemas.microsoft.com/office/drawing/2014/main" id="{890A1BB5-4C71-4D31-A43E-C4E78A3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2647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hort-3-card">
            <a:extLst xmlns:a="http://schemas.openxmlformats.org/drawingml/2006/main">
              <a:ext uri="{FF2B5EF4-FFF2-40B4-BE49-F238E27FC236}">
                <a16:creationId xmlns:a16="http://schemas.microsoft.com/office/drawing/2014/main" id="{E0D450FB-475D-4DEF-AD6A-C77BC1A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028700"/>
            <a:ext cx="29146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BF3DE"/>
          </a:solidFill>
          <a:ln xmlns:a="http://schemas.openxmlformats.org/drawingml/2006/main" w="13335">
            <a:solidFill>
              <a:srgbClr val="B98525"/>
            </a:solidFill>
            <a:prstDash val="solid"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cd8743d034397"/>
          <a:srcRect xmlns:a="http://schemas.openxmlformats.org/drawingml/2006/main" l="2885" t="0" r="2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82225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</p:spPr>
      </p:pic>
      <p:sp>
        <p:nvSpPr>
          <p:cNvPr id="27" name="cohort-3-image-border">
            <a:extLst xmlns:a="http://schemas.openxmlformats.org/drawingml/2006/main">
              <a:ext uri="{FF2B5EF4-FFF2-40B4-BE49-F238E27FC236}">
                <a16:creationId xmlns:a16="http://schemas.microsoft.com/office/drawing/2014/main" id="{2B490634-AFD5-404D-BF48-A4D89B8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98525"/>
            </a:solidFill>
            <a:prstDash val="solid"/>
          </a:ln>
        </p:spPr>
      </p:sp>
      <p:sp>
        <p:nvSpPr>
          <p:cNvPr id="28" name="cohort-3-name">
            <a:extLst xmlns:a="http://schemas.openxmlformats.org/drawingml/2006/main">
              <a:ext uri="{FF2B5EF4-FFF2-40B4-BE49-F238E27FC236}">
                <a16:creationId xmlns:a16="http://schemas.microsoft.com/office/drawing/2014/main" id="{6BC081CA-D524-43E9-8165-CDD3FA6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1085850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China Fundus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CIMT</a:t>
            </a:r>
          </a:p>
        </p:txBody>
      </p:sp>
      <p:sp>
        <p:nvSpPr>
          <p:cNvPr id="29" name="cohort-3-sample">
            <a:extLst xmlns:a="http://schemas.openxmlformats.org/drawingml/2006/main">
              <a:ext uri="{FF2B5EF4-FFF2-40B4-BE49-F238E27FC236}">
                <a16:creationId xmlns:a16="http://schemas.microsoft.com/office/drawing/2014/main" id="{BB4F821B-4EF0-40A0-BCA6-429EBBF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1600200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2,603 dev</a:t>
            </a:r>
          </a:p>
          <a:p xmlns:a="http://schemas.openxmlformats.org/drawingml/2006/main">
            <a:pPr algn="l">
              <a:defRPr sz="1575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200 frozen val</a:t>
            </a:r>
          </a:p>
        </p:txBody>
      </p:sp>
      <p:sp>
        <p:nvSpPr>
          <p:cNvPr id="30" name="cohort-3-roles">
            <a:extLst xmlns:a="http://schemas.openxmlformats.org/drawingml/2006/main">
              <a:ext uri="{FF2B5EF4-FFF2-40B4-BE49-F238E27FC236}">
                <a16:creationId xmlns:a16="http://schemas.microsoft.com/office/drawing/2014/main" id="{2055FFE3-42E8-4DDB-8E79-CA974C7D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0955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CIMT mechanism</a:t>
            </a:r>
          </a:p>
        </p:txBody>
      </p:sp>
      <p:sp>
        <p:nvSpPr>
          <p:cNvPr id="31" name="cohort-3-accent">
            <a:extLst xmlns:a="http://schemas.openxmlformats.org/drawingml/2006/main">
              <a:ext uri="{FF2B5EF4-FFF2-40B4-BE49-F238E27FC236}">
                <a16:creationId xmlns:a16="http://schemas.microsoft.com/office/drawing/2014/main" id="{ABAA1427-F218-4F45-ACA6-9DF29601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362200"/>
            <a:ext cx="2647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hort-4-card">
            <a:extLst xmlns:a="http://schemas.openxmlformats.org/drawingml/2006/main">
              <a:ext uri="{FF2B5EF4-FFF2-40B4-BE49-F238E27FC236}">
                <a16:creationId xmlns:a16="http://schemas.microsoft.com/office/drawing/2014/main" id="{BC5CA716-41A8-4BEF-8630-529F06B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1028700"/>
            <a:ext cx="29146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3335">
            <a:solidFill>
              <a:srgbClr val="41806A"/>
            </a:solidFill>
            <a:prstDash val="solid"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8c82a46da42dc"/>
          <a:srcRect xmlns:a="http://schemas.openxmlformats.org/drawingml/2006/main" l="2885" t="0" r="2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0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</p:spPr>
      </p:pic>
      <p:sp>
        <p:nvSpPr>
          <p:cNvPr id="34" name="cohort-4-image-border">
            <a:extLst xmlns:a="http://schemas.openxmlformats.org/drawingml/2006/main">
              <a:ext uri="{FF2B5EF4-FFF2-40B4-BE49-F238E27FC236}">
                <a16:creationId xmlns:a16="http://schemas.microsoft.com/office/drawing/2014/main" id="{E20401A2-2A30-414B-BAAC-CA1DAAD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62050"/>
            <a:ext cx="933450" cy="990600"/>
          </a:xfrm>
          <a:prstGeom xmlns:a="http://schemas.openxmlformats.org/drawingml/2006/main" prst="roundRect">
            <a:avLst>
              <a:gd name="adj" fmla="val 112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1806A"/>
            </a:solidFill>
            <a:prstDash val="solid"/>
          </a:ln>
        </p:spPr>
      </p:sp>
      <p:sp>
        <p:nvSpPr>
          <p:cNvPr id="35" name="cohort-4-name">
            <a:extLst xmlns:a="http://schemas.openxmlformats.org/drawingml/2006/main">
              <a:ext uri="{FF2B5EF4-FFF2-40B4-BE49-F238E27FC236}">
                <a16:creationId xmlns:a16="http://schemas.microsoft.com/office/drawing/2014/main" id="{CFA9A0D6-1BDE-4793-96C6-D87B6DC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1334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mBRSET mirror</a:t>
            </a:r>
          </a:p>
        </p:txBody>
      </p:sp>
      <p:sp>
        <p:nvSpPr>
          <p:cNvPr id="36" name="cohort-4-sample">
            <a:extLst xmlns:a="http://schemas.openxmlformats.org/drawingml/2006/main">
              <a:ext uri="{FF2B5EF4-FFF2-40B4-BE49-F238E27FC236}">
                <a16:creationId xmlns:a16="http://schemas.microsoft.com/office/drawing/2014/main" id="{E0A7E3D1-6A70-4E63-83D6-02F7DF52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47637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6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180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1806A"/>
                </a:solidFill>
                <a:latin typeface="Arial"/>
                <a:ea typeface="Arial"/>
                <a:cs typeface="Arial"/>
              </a:rPr>
              <a:t>1,287 participants</a:t>
            </a:r>
          </a:p>
        </p:txBody>
      </p:sp>
      <p:sp>
        <p:nvSpPr>
          <p:cNvPr id="37" name="cohort-4-roles">
            <a:extLst xmlns:a="http://schemas.openxmlformats.org/drawingml/2006/main">
              <a:ext uri="{FF2B5EF4-FFF2-40B4-BE49-F238E27FC236}">
                <a16:creationId xmlns:a16="http://schemas.microsoft.com/office/drawing/2014/main" id="{FA689580-6FA3-4E9F-80D8-361D7EF3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80022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Repeatability</a:t>
            </a:r>
          </a:p>
          <a:p xmlns:a="http://schemas.openxmlformats.org/drawingml/2006/main">
            <a:pPr algn="l">
              <a:defRPr sz="13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clinical exploration</a:t>
            </a:r>
          </a:p>
        </p:txBody>
      </p:sp>
      <p:sp>
        <p:nvSpPr>
          <p:cNvPr id="38" name="cohort-4-accent">
            <a:extLst xmlns:a="http://schemas.openxmlformats.org/drawingml/2006/main">
              <a:ext uri="{FF2B5EF4-FFF2-40B4-BE49-F238E27FC236}">
                <a16:creationId xmlns:a16="http://schemas.microsoft.com/office/drawing/2014/main" id="{69FDCCB1-416A-4A43-B9D5-5DD3AB6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362200"/>
            <a:ext cx="2647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8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nel-b">
            <a:extLst xmlns:a="http://schemas.openxmlformats.org/drawingml/2006/main">
              <a:ext uri="{FF2B5EF4-FFF2-40B4-BE49-F238E27FC236}">
                <a16:creationId xmlns:a16="http://schemas.microsoft.com/office/drawing/2014/main" id="{004CA684-072B-4278-9235-E919461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0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D542848E-04A6-4710-B2AC-042CBC14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RMDB–BiRAP phenotype construction</a:t>
            </a:r>
          </a:p>
        </p:txBody>
      </p:sp>
      <p:sp>
        <p:nvSpPr>
          <p:cNvPr id="41" name="panel-b-note">
            <a:extLst xmlns:a="http://schemas.openxmlformats.org/drawingml/2006/main">
              <a:ext uri="{FF2B5EF4-FFF2-40B4-BE49-F238E27FC236}">
                <a16:creationId xmlns:a16="http://schemas.microsoft.com/office/drawing/2014/main" id="{39C79648-6E53-411D-B3AE-6F94E7F0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785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matched eye  |  frozen branches  |  outcome-blind gate</a:t>
            </a:r>
          </a:p>
        </p:txBody>
      </p:sp>
      <p:sp>
        <p:nvSpPr>
          <p:cNvPr id="42" name="method-panel">
            <a:extLst xmlns:a="http://schemas.openxmlformats.org/drawingml/2006/main">
              <a:ext uri="{FF2B5EF4-FFF2-40B4-BE49-F238E27FC236}">
                <a16:creationId xmlns:a16="http://schemas.microsoft.com/office/drawing/2014/main" id="{FA6B8AD3-C2D3-4C19-84EA-66DEF633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15963900" cy="39528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BFAFD"/>
          </a:solidFill>
          <a:ln xmlns:a="http://schemas.openxmlformats.org/drawingml/2006/main" w="17145">
            <a:solidFill>
              <a:srgbClr val="D5CBE4"/>
            </a:solidFill>
            <a:prstDash val="solid"/>
          </a:ln>
        </p:spPr>
      </p:sp>
      <p:sp>
        <p:nvSpPr>
          <p:cNvPr id="43" name="stage-divider-0">
            <a:extLst xmlns:a="http://schemas.openxmlformats.org/drawingml/2006/main">
              <a:ext uri="{FF2B5EF4-FFF2-40B4-BE49-F238E27FC236}">
                <a16:creationId xmlns:a16="http://schemas.microsoft.com/office/drawing/2014/main" id="{3C653052-02AB-49DE-AD3D-DBBE8D2A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143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tage-divider-1">
            <a:extLst xmlns:a="http://schemas.openxmlformats.org/drawingml/2006/main">
              <a:ext uri="{FF2B5EF4-FFF2-40B4-BE49-F238E27FC236}">
                <a16:creationId xmlns:a16="http://schemas.microsoft.com/office/drawing/2014/main" id="{36978CD1-6A09-4260-9E5B-DC8D1D2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1143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F8A17DF8-3E4D-4AE0-9692-F75FBAF5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524250"/>
            <a:ext cx="1143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tep-1">
            <a:extLst xmlns:a="http://schemas.openxmlformats.org/drawingml/2006/main">
              <a:ext uri="{FF2B5EF4-FFF2-40B4-BE49-F238E27FC236}">
                <a16:creationId xmlns:a16="http://schemas.microsoft.com/office/drawing/2014/main" id="{4E0F032D-22DB-481C-8327-FD4FED8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555896AA-0DAF-4E43-AFFE-75E925B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Anatomy standardisation</a:t>
            </a:r>
          </a:p>
        </p:txBody>
      </p:sp>
      <p:sp>
        <p:nvSpPr>
          <p:cNvPr id="48" name="step-2">
            <a:extLst xmlns:a="http://schemas.openxmlformats.org/drawingml/2006/main">
              <a:ext uri="{FF2B5EF4-FFF2-40B4-BE49-F238E27FC236}">
                <a16:creationId xmlns:a16="http://schemas.microsoft.com/office/drawing/2014/main" id="{2F0532B5-B28B-4395-AE55-23CB1D9B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28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9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5E4709DF-7F9A-4410-B3C3-6B396BE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Separate support from identity</a:t>
            </a:r>
          </a:p>
        </p:txBody>
      </p:sp>
      <p:sp>
        <p:nvSpPr>
          <p:cNvPr id="50" name="step-3">
            <a:extLst xmlns:a="http://schemas.openxmlformats.org/drawingml/2006/main">
              <a:ext uri="{FF2B5EF4-FFF2-40B4-BE49-F238E27FC236}">
                <a16:creationId xmlns:a16="http://schemas.microsoft.com/office/drawing/2014/main" id="{C6495AFF-4E2F-46C9-A8B1-7DEB2FAE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28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525"/>
          </a:solidFill>
          <a:ln xmlns:a="http://schemas.openxmlformats.org/drawingml/2006/main" w="9525">
            <a:solidFill>
              <a:srgbClr val="B9852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2A0FD43-FBEF-448A-A735-F0591DB1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81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Dual readouts</a:t>
            </a:r>
          </a:p>
        </p:txBody>
      </p:sp>
      <p:sp>
        <p:nvSpPr>
          <p:cNvPr id="52" name="step-4">
            <a:extLst xmlns:a="http://schemas.openxmlformats.org/drawingml/2006/main">
              <a:ext uri="{FF2B5EF4-FFF2-40B4-BE49-F238E27FC236}">
                <a16:creationId xmlns:a16="http://schemas.microsoft.com/office/drawing/2014/main" id="{2050ED8D-FCA8-4C41-9349-B84B762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228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9525">
            <a:solidFill>
              <a:srgbClr val="0B8F8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3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DF1A301E-BB16-45C2-AA59-EFE9B6E8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181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BiRAP gate</a:t>
            </a:r>
          </a:p>
        </p:txBody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7604b08bf4c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667125"/>
            <a:ext cx="1104900" cy="1104900"/>
          </a:xfrm>
          <a:prstGeom xmlns:a="http://schemas.openxmlformats.org/drawingml/2006/main" prst="roundRect">
            <a:avLst>
              <a:gd name="adj" fmla="val 9483"/>
            </a:avLst>
          </a:prstGeom>
        </p:spPr>
      </p:pic>
      <p:sp>
        <p:nvSpPr>
          <p:cNvPr id="55" name="raw-image-border">
            <a:extLst xmlns:a="http://schemas.openxmlformats.org/drawingml/2006/main">
              <a:ext uri="{FF2B5EF4-FFF2-40B4-BE49-F238E27FC236}">
                <a16:creationId xmlns:a16="http://schemas.microsoft.com/office/drawing/2014/main" id="{D7E448A2-BF15-4906-A8B9-E311AFE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104900" cy="1104900"/>
          </a:xfrm>
          <a:prstGeom xmlns:a="http://schemas.openxmlformats.org/drawingml/2006/main" prst="roundRect">
            <a:avLst>
              <a:gd name="adj" fmla="val 948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37F8F"/>
            </a:solidFill>
            <a:prstDash val="solid"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cb04000b64e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3600" y="3667125"/>
            <a:ext cx="1104900" cy="1104900"/>
          </a:xfrm>
          <a:prstGeom xmlns:a="http://schemas.openxmlformats.org/drawingml/2006/main" prst="roundRect">
            <a:avLst>
              <a:gd name="adj" fmla="val 9483"/>
            </a:avLst>
          </a:prstGeom>
        </p:spPr>
      </p:pic>
      <p:sp>
        <p:nvSpPr>
          <p:cNvPr id="57" name="standardised-image-border">
            <a:extLst xmlns:a="http://schemas.openxmlformats.org/drawingml/2006/main">
              <a:ext uri="{FF2B5EF4-FFF2-40B4-BE49-F238E27FC236}">
                <a16:creationId xmlns:a16="http://schemas.microsoft.com/office/drawing/2014/main" id="{EBC9F039-1A37-4A8A-BF8C-4980A71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67125"/>
            <a:ext cx="1104900" cy="1104900"/>
          </a:xfrm>
          <a:prstGeom xmlns:a="http://schemas.openxmlformats.org/drawingml/2006/main" prst="roundRect">
            <a:avLst>
              <a:gd name="adj" fmla="val 948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37F8F"/>
            </a:solidFill>
            <a:prstDash val="solid"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1ef0c388245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3667125"/>
            <a:ext cx="1104900" cy="1104900"/>
          </a:xfrm>
          <a:prstGeom xmlns:a="http://schemas.openxmlformats.org/drawingml/2006/main" prst="roundRect">
            <a:avLst>
              <a:gd name="adj" fmla="val 9483"/>
            </a:avLst>
          </a:prstGeom>
        </p:spPr>
      </p:pic>
      <p:sp>
        <p:nvSpPr>
          <p:cNvPr id="59" name="disc-fovea-image-border">
            <a:extLst xmlns:a="http://schemas.openxmlformats.org/drawingml/2006/main">
              <a:ext uri="{FF2B5EF4-FFF2-40B4-BE49-F238E27FC236}">
                <a16:creationId xmlns:a16="http://schemas.microsoft.com/office/drawing/2014/main" id="{A007C272-9BF6-4392-A5C3-9E4B6299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67125"/>
            <a:ext cx="1104900" cy="1104900"/>
          </a:xfrm>
          <a:prstGeom xmlns:a="http://schemas.openxmlformats.org/drawingml/2006/main" prst="roundRect">
            <a:avLst>
              <a:gd name="adj" fmla="val 948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60" name="raw-to-standardised">
            <a:extLst xmlns:a="http://schemas.openxmlformats.org/drawingml/2006/main">
              <a:ext uri="{FF2B5EF4-FFF2-40B4-BE49-F238E27FC236}">
                <a16:creationId xmlns:a16="http://schemas.microsoft.com/office/drawing/2014/main" id="{DD3A6E3A-3754-46FF-92B8-684849F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1433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61" name="standardised-to-anchor">
            <a:extLst xmlns:a="http://schemas.openxmlformats.org/drawingml/2006/main">
              <a:ext uri="{FF2B5EF4-FFF2-40B4-BE49-F238E27FC236}">
                <a16:creationId xmlns:a16="http://schemas.microsoft.com/office/drawing/2014/main" id="{64895070-6F29-4C09-9397-7C22917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433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62" name="raw-label">
            <a:extLst xmlns:a="http://schemas.openxmlformats.org/drawingml/2006/main">
              <a:ext uri="{FF2B5EF4-FFF2-40B4-BE49-F238E27FC236}">
                <a16:creationId xmlns:a16="http://schemas.microsoft.com/office/drawing/2014/main" id="{7884E957-0013-44EB-8091-8FA23A42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74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63" name="standardised-label">
            <a:extLst xmlns:a="http://schemas.openxmlformats.org/drawingml/2006/main">
              <a:ext uri="{FF2B5EF4-FFF2-40B4-BE49-F238E27FC236}">
                <a16:creationId xmlns:a16="http://schemas.microsoft.com/office/drawing/2014/main" id="{C33DD4E8-8EAD-42BC-9FBA-C325718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577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66274"/>
                </a:solidFill>
                <a:latin typeface="Arial"/>
                <a:ea typeface="Arial"/>
                <a:cs typeface="Arial"/>
              </a:rPr>
              <a:t>Standardised</a:t>
            </a:r>
          </a:p>
        </p:txBody>
      </p:sp>
      <p:sp>
        <p:nvSpPr>
          <p:cNvPr id="64" name="anchor-label">
            <a:extLst xmlns:a="http://schemas.openxmlformats.org/drawingml/2006/main">
              <a:ext uri="{FF2B5EF4-FFF2-40B4-BE49-F238E27FC236}">
                <a16:creationId xmlns:a16="http://schemas.microsoft.com/office/drawing/2014/main" id="{45626B60-81AE-453F-A32B-DCC770C8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57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74"/>
                </a:solidFill>
                <a:latin typeface="Arial"/>
                <a:ea typeface="Arial"/>
                <a:cs typeface="Arial"/>
              </a:rPr>
              <a:t>Disc–fovea</a:t>
            </a:r>
          </a:p>
        </p:txBody>
      </p:sp>
      <p:sp>
        <p:nvSpPr>
          <p:cNvPr id="65" name="coordinate-first">
            <a:extLst xmlns:a="http://schemas.openxmlformats.org/drawingml/2006/main">
              <a:ext uri="{FF2B5EF4-FFF2-40B4-BE49-F238E27FC236}">
                <a16:creationId xmlns:a16="http://schemas.microsoft.com/office/drawing/2014/main" id="{08A60035-70B9-4F15-BD49-2E19C73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Coordinate first</a:t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phenotype second</a:t>
            </a:r>
          </a:p>
        </p:txBody>
      </p:sp>
      <p:sp>
        <p:nvSpPr>
          <p:cNvPr id="66" name="raw-warning">
            <a:extLst xmlns:a="http://schemas.openxmlformats.org/drawingml/2006/main">
              <a:ext uri="{FF2B5EF4-FFF2-40B4-BE49-F238E27FC236}">
                <a16:creationId xmlns:a16="http://schemas.microsoft.com/office/drawing/2014/main" id="{F51C1503-7F36-4FF8-A72D-1157402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722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8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No phenotype is calculated from raw I alone.</a:t>
            </a:r>
          </a:p>
        </p:txBody>
      </p:sp>
      <p:sp>
        <p:nvSpPr>
          <p:cNvPr id="67" name="identity-card">
            <a:extLst xmlns:a="http://schemas.openxmlformats.org/drawingml/2006/main">
              <a:ext uri="{FF2B5EF4-FFF2-40B4-BE49-F238E27FC236}">
                <a16:creationId xmlns:a16="http://schemas.microsoft.com/office/drawing/2014/main" id="{000E02E2-60B7-46F8-B7A1-0F5CF4F2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19500"/>
            <a:ext cx="4095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20955">
            <a:solidFill>
              <a:srgbClr val="6F52A1"/>
            </a:solidFill>
            <a:prstDash val="solid"/>
          </a:ln>
        </p:spPr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1c09e242047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3781425"/>
            <a:ext cx="1066800" cy="1066800"/>
          </a:xfrm>
          <a:prstGeom xmlns:a="http://schemas.openxmlformats.org/drawingml/2006/main" prst="roundRect">
            <a:avLst>
              <a:gd name="adj" fmla="val 8929"/>
            </a:avLst>
          </a:prstGeom>
        </p:spPr>
      </p:pic>
      <p:sp>
        <p:nvSpPr>
          <p:cNvPr id="69" name="identity-map-border">
            <a:extLst xmlns:a="http://schemas.openxmlformats.org/drawingml/2006/main">
              <a:ext uri="{FF2B5EF4-FFF2-40B4-BE49-F238E27FC236}">
                <a16:creationId xmlns:a16="http://schemas.microsoft.com/office/drawing/2014/main" id="{94503E7B-5D22-42CB-823A-A7010C8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81425"/>
            <a:ext cx="1066800" cy="106680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F52A1"/>
            </a:solidFill>
            <a:prstDash val="solid"/>
          </a:ln>
        </p:spPr>
      </p:sp>
      <p:sp>
        <p:nvSpPr>
          <p:cNvPr id="70" name="identity-pill">
            <a:extLst xmlns:a="http://schemas.openxmlformats.org/drawingml/2006/main">
              <a:ext uri="{FF2B5EF4-FFF2-40B4-BE49-F238E27FC236}">
                <a16:creationId xmlns:a16="http://schemas.microsoft.com/office/drawing/2014/main" id="{1506545E-CA42-466D-80AE-55B9CFF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62375"/>
            <a:ext cx="13811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52A1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9223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71" name="identity-model">
            <a:extLst xmlns:a="http://schemas.openxmlformats.org/drawingml/2006/main">
              <a:ext uri="{FF2B5EF4-FFF2-40B4-BE49-F238E27FC236}">
                <a16:creationId xmlns:a16="http://schemas.microsoft.com/office/drawing/2014/main" id="{23069376-7516-4DFA-9BE0-75394E24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VascX + UDCT ×2</a:t>
            </a:r>
          </a:p>
        </p:txBody>
      </p:sp>
      <p:sp>
        <p:nvSpPr>
          <p:cNvPr id="72" name="identity-formula">
            <a:extLst xmlns:a="http://schemas.openxmlformats.org/drawingml/2006/main">
              <a:ext uri="{FF2B5EF4-FFF2-40B4-BE49-F238E27FC236}">
                <a16:creationId xmlns:a16="http://schemas.microsoft.com/office/drawing/2014/main" id="{E2C0C0A4-C51B-4A00-8022-93BC93A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10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P(A,V,C | I*)</a:t>
            </a:r>
          </a:p>
        </p:txBody>
      </p:sp>
      <p:sp>
        <p:nvSpPr>
          <p:cNvPr id="73" name="occupancy-card">
            <a:extLst xmlns:a="http://schemas.openxmlformats.org/drawingml/2006/main">
              <a:ext uri="{FF2B5EF4-FFF2-40B4-BE49-F238E27FC236}">
                <a16:creationId xmlns:a16="http://schemas.microsoft.com/office/drawing/2014/main" id="{354E0128-28A1-430E-AC1C-B028DD2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38750"/>
            <a:ext cx="4095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20955">
            <a:solidFill>
              <a:srgbClr val="0B8F8B"/>
            </a:solidFill>
            <a:prstDash val="solid"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9a7d7d0104b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5400675"/>
            <a:ext cx="1066800" cy="1066800"/>
          </a:xfrm>
          <a:prstGeom xmlns:a="http://schemas.openxmlformats.org/drawingml/2006/main" prst="roundRect">
            <a:avLst>
              <a:gd name="adj" fmla="val 8929"/>
            </a:avLst>
          </a:prstGeom>
        </p:spPr>
      </p:pic>
      <p:sp>
        <p:nvSpPr>
          <p:cNvPr id="75" name="occupancy-map-border">
            <a:extLst xmlns:a="http://schemas.openxmlformats.org/drawingml/2006/main">
              <a:ext uri="{FF2B5EF4-FFF2-40B4-BE49-F238E27FC236}">
                <a16:creationId xmlns:a16="http://schemas.microsoft.com/office/drawing/2014/main" id="{1817D5CB-28A1-47D1-984A-D09C082D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00675"/>
            <a:ext cx="1066800" cy="106680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76" name="occupancy-pill">
            <a:extLst xmlns:a="http://schemas.openxmlformats.org/drawingml/2006/main">
              <a:ext uri="{FF2B5EF4-FFF2-40B4-BE49-F238E27FC236}">
                <a16:creationId xmlns:a16="http://schemas.microsoft.com/office/drawing/2014/main" id="{45741132-E8C1-44BA-84FB-2BF142E6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81625"/>
            <a:ext cx="16668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B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9223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OCCUPANCY</a:t>
            </a:r>
          </a:p>
        </p:txBody>
      </p:sp>
      <p:sp>
        <p:nvSpPr>
          <p:cNvPr id="77" name="occupancy-model">
            <a:extLst xmlns:a="http://schemas.openxmlformats.org/drawingml/2006/main">
              <a:ext uri="{FF2B5EF4-FFF2-40B4-BE49-F238E27FC236}">
                <a16:creationId xmlns:a16="http://schemas.microsoft.com/office/drawing/2014/main" id="{C6B0C52F-B961-417B-A164-36E883A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848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4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Frozen FIVES head</a:t>
            </a:r>
          </a:p>
        </p:txBody>
      </p:sp>
      <p:sp>
        <p:nvSpPr>
          <p:cNvPr id="78" name="occupancy-formula">
            <a:extLst xmlns:a="http://schemas.openxmlformats.org/drawingml/2006/main">
              <a:ext uri="{FF2B5EF4-FFF2-40B4-BE49-F238E27FC236}">
                <a16:creationId xmlns:a16="http://schemas.microsoft.com/office/drawing/2014/main" id="{A9C2DB5D-CCA0-4B06-A448-0B625CAC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2293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P(vessel | I*)</a:t>
            </a:r>
          </a:p>
        </p:txBody>
      </p:sp>
      <p:sp>
        <p:nvSpPr>
          <p:cNvPr id="79" name="anchor-to-branches">
            <a:extLst xmlns:a="http://schemas.openxmlformats.org/drawingml/2006/main">
              <a:ext uri="{FF2B5EF4-FFF2-40B4-BE49-F238E27FC236}">
                <a16:creationId xmlns:a16="http://schemas.microsoft.com/office/drawing/2014/main" id="{8E0F2C5C-0FCB-458C-81EF-96B1FBC6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80" name="branch-split">
            <a:extLst xmlns:a="http://schemas.openxmlformats.org/drawingml/2006/main">
              <a:ext uri="{FF2B5EF4-FFF2-40B4-BE49-F238E27FC236}">
                <a16:creationId xmlns:a16="http://schemas.microsoft.com/office/drawing/2014/main" id="{88E848DE-65D7-45FE-82B7-DAEF8378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95775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3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plit-to-identity">
            <a:extLst xmlns:a="http://schemas.openxmlformats.org/drawingml/2006/main">
              <a:ext uri="{FF2B5EF4-FFF2-40B4-BE49-F238E27FC236}">
                <a16:creationId xmlns:a16="http://schemas.microsoft.com/office/drawing/2014/main" id="{3AAE275F-A379-4D36-8AFA-F776D02E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82" name="split-to-occupancy">
            <a:extLst xmlns:a="http://schemas.openxmlformats.org/drawingml/2006/main">
              <a:ext uri="{FF2B5EF4-FFF2-40B4-BE49-F238E27FC236}">
                <a16:creationId xmlns:a16="http://schemas.microsoft.com/office/drawing/2014/main" id="{8F476303-AC34-46A1-9E0E-59D4F5F0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483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4763">
            <a:solidFill>
              <a:srgbClr val="0B8F8B"/>
            </a:solidFill>
            <a:prstDash val="solid"/>
          </a:ln>
        </p:spPr>
      </p:sp>
      <p:sp>
        <p:nvSpPr>
          <p:cNvPr id="83" name="mass-card">
            <a:extLst xmlns:a="http://schemas.openxmlformats.org/drawingml/2006/main">
              <a:ext uri="{FF2B5EF4-FFF2-40B4-BE49-F238E27FC236}">
                <a16:creationId xmlns:a16="http://schemas.microsoft.com/office/drawing/2014/main" id="{F28BDF27-EABC-40D5-8674-EAB097C0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19500"/>
            <a:ext cx="2857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BF3DE"/>
          </a:solidFill>
          <a:ln xmlns:a="http://schemas.openxmlformats.org/drawingml/2006/main" w="19050">
            <a:solidFill>
              <a:srgbClr val="B98525"/>
            </a:solidFill>
            <a:prstDash val="solid"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9e658cb244c77"/>
          <a:srcRect xmlns:a="http://schemas.openxmlformats.org/drawingml/2006/main" l="3571" t="0" r="3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3781425"/>
            <a:ext cx="990600" cy="1066800"/>
          </a:xfrm>
          <a:prstGeom xmlns:a="http://schemas.openxmlformats.org/drawingml/2006/main" prst="roundRect">
            <a:avLst>
              <a:gd name="adj" fmla="val 9615"/>
            </a:avLst>
          </a:prstGeom>
        </p:spPr>
      </p:pic>
      <p:sp>
        <p:nvSpPr>
          <p:cNvPr id="85" name="mass-map-border">
            <a:extLst xmlns:a="http://schemas.openxmlformats.org/drawingml/2006/main">
              <a:ext uri="{FF2B5EF4-FFF2-40B4-BE49-F238E27FC236}">
                <a16:creationId xmlns:a16="http://schemas.microsoft.com/office/drawing/2014/main" id="{41DF3B78-2476-4B96-ACAE-FD8CA0F2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81425"/>
            <a:ext cx="990600" cy="106680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98525"/>
            </a:solidFill>
            <a:prstDash val="solid"/>
          </a:ln>
        </p:spPr>
      </p:sp>
      <p:sp>
        <p:nvSpPr>
          <p:cNvPr id="86" name="mass-title">
            <a:extLst xmlns:a="http://schemas.openxmlformats.org/drawingml/2006/main">
              <a:ext uri="{FF2B5EF4-FFF2-40B4-BE49-F238E27FC236}">
                <a16:creationId xmlns:a16="http://schemas.microsoft.com/office/drawing/2014/main" id="{C3C790F6-759A-4A5A-B95A-31BB0A76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7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Mass-UDCT</a:t>
            </a:r>
          </a:p>
        </p:txBody>
      </p:sp>
      <p:sp>
        <p:nvSpPr>
          <p:cNvPr id="87" name="mass-formula">
            <a:extLst xmlns:a="http://schemas.openxmlformats.org/drawingml/2006/main">
              <a:ext uri="{FF2B5EF4-FFF2-40B4-BE49-F238E27FC236}">
                <a16:creationId xmlns:a16="http://schemas.microsoft.com/office/drawing/2014/main" id="{991BA7FF-ABD2-46F9-B1A3-C40B8DE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05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M = P(A,V,C | I*)</a:t>
            </a:r>
          </a:p>
        </p:txBody>
      </p:sp>
      <p:sp>
        <p:nvSpPr>
          <p:cNvPr id="88" name="mass-note">
            <a:extLst xmlns:a="http://schemas.openxmlformats.org/drawingml/2006/main">
              <a:ext uri="{FF2B5EF4-FFF2-40B4-BE49-F238E27FC236}">
                <a16:creationId xmlns:a16="http://schemas.microsoft.com/office/drawing/2014/main" id="{3419B1EB-94CA-4C70-8EE7-46611FCF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mass retained</a:t>
            </a:r>
          </a:p>
        </p:txBody>
      </p:sp>
      <p:sp>
        <p:nvSpPr>
          <p:cNvPr id="89" name="factor-card">
            <a:extLst xmlns:a="http://schemas.openxmlformats.org/drawingml/2006/main">
              <a:ext uri="{FF2B5EF4-FFF2-40B4-BE49-F238E27FC236}">
                <a16:creationId xmlns:a16="http://schemas.microsoft.com/office/drawing/2014/main" id="{851B34CD-B049-47DB-AD6B-70B3C38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38750"/>
            <a:ext cx="2857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03d5b8c96446a"/>
          <a:srcRect xmlns:a="http://schemas.openxmlformats.org/drawingml/2006/main" l="3571" t="0" r="3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5400675"/>
            <a:ext cx="990600" cy="1066800"/>
          </a:xfrm>
          <a:prstGeom xmlns:a="http://schemas.openxmlformats.org/drawingml/2006/main" prst="roundRect">
            <a:avLst>
              <a:gd name="adj" fmla="val 9615"/>
            </a:avLst>
          </a:prstGeom>
        </p:spPr>
      </p:pic>
      <p:sp>
        <p:nvSpPr>
          <p:cNvPr id="91" name="factor-map-border">
            <a:extLst xmlns:a="http://schemas.openxmlformats.org/drawingml/2006/main">
              <a:ext uri="{FF2B5EF4-FFF2-40B4-BE49-F238E27FC236}">
                <a16:creationId xmlns:a16="http://schemas.microsoft.com/office/drawing/2014/main" id="{0F1C3D8B-4003-4327-A390-AC89BDE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00675"/>
            <a:ext cx="990600" cy="1066800"/>
          </a:xfrm>
          <a:prstGeom xmlns:a="http://schemas.openxmlformats.org/drawingml/2006/main" prst="roundRect">
            <a:avLst>
              <a:gd name="adj" fmla="val 96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B8F8B"/>
            </a:solidFill>
            <a:prstDash val="solid"/>
          </a:ln>
        </p:spPr>
      </p:sp>
      <p:sp>
        <p:nvSpPr>
          <p:cNvPr id="92" name="factor-title">
            <a:extLst xmlns:a="http://schemas.openxmlformats.org/drawingml/2006/main">
              <a:ext uri="{FF2B5EF4-FFF2-40B4-BE49-F238E27FC236}">
                <a16:creationId xmlns:a16="http://schemas.microsoft.com/office/drawing/2014/main" id="{3564FF74-E65D-4E03-ABBF-41FB217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Factorized-UDCT</a:t>
            </a:r>
          </a:p>
        </p:txBody>
      </p:sp>
      <p:sp>
        <p:nvSpPr>
          <p:cNvPr id="93" name="factor-formula">
            <a:extLst xmlns:a="http://schemas.openxmlformats.org/drawingml/2006/main">
              <a:ext uri="{FF2B5EF4-FFF2-40B4-BE49-F238E27FC236}">
                <a16:creationId xmlns:a16="http://schemas.microsoft.com/office/drawing/2014/main" id="{E9928991-702A-4FE9-8D5B-BF2EE454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245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F = O × P(identity)</a:t>
            </a:r>
          </a:p>
        </p:txBody>
      </p:sp>
      <p:sp>
        <p:nvSpPr>
          <p:cNvPr id="94" name="factor-note">
            <a:extLst xmlns:a="http://schemas.openxmlformats.org/drawingml/2006/main">
              <a:ext uri="{FF2B5EF4-FFF2-40B4-BE49-F238E27FC236}">
                <a16:creationId xmlns:a16="http://schemas.microsoft.com/office/drawing/2014/main" id="{D32322DD-52FF-49BF-A413-4FB2D26F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support gated</a:t>
            </a:r>
          </a:p>
        </p:txBody>
      </p:sp>
      <p:sp>
        <p:nvSpPr>
          <p:cNvPr id="95" name="identity-to-mass">
            <a:extLst xmlns:a="http://schemas.openxmlformats.org/drawingml/2006/main">
              <a:ext uri="{FF2B5EF4-FFF2-40B4-BE49-F238E27FC236}">
                <a16:creationId xmlns:a16="http://schemas.microsoft.com/office/drawing/2014/main" id="{F112E03E-53CC-4A9B-BDED-877441C2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291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96" name="occupancy-to-factor">
            <a:extLst xmlns:a="http://schemas.openxmlformats.org/drawingml/2006/main">
              <a:ext uri="{FF2B5EF4-FFF2-40B4-BE49-F238E27FC236}">
                <a16:creationId xmlns:a16="http://schemas.microsoft.com/office/drawing/2014/main" id="{4F6686EF-DFE0-41B3-8A98-1F924F7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84835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4763">
            <a:solidFill>
              <a:srgbClr val="0B8F8B"/>
            </a:solidFill>
            <a:prstDash val="solid"/>
          </a:ln>
        </p:spPr>
      </p:sp>
      <p:sp>
        <p:nvSpPr>
          <p:cNvPr id="97" name="identity-factor-elbow-v">
            <a:extLst xmlns:a="http://schemas.openxmlformats.org/drawingml/2006/main">
              <a:ext uri="{FF2B5EF4-FFF2-40B4-BE49-F238E27FC236}">
                <a16:creationId xmlns:a16="http://schemas.microsoft.com/office/drawing/2014/main" id="{203A1ABB-48FA-46A3-A496-2862569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19625"/>
            <a:ext cx="19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identity-factor-elbow-h">
            <a:extLst xmlns:a="http://schemas.openxmlformats.org/drawingml/2006/main">
              <a:ext uri="{FF2B5EF4-FFF2-40B4-BE49-F238E27FC236}">
                <a16:creationId xmlns:a16="http://schemas.microsoft.com/office/drawing/2014/main" id="{50C79C99-C4F7-47B0-9F51-E144129E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19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identity-to-factor">
            <a:extLst xmlns:a="http://schemas.openxmlformats.org/drawingml/2006/main">
              <a:ext uri="{FF2B5EF4-FFF2-40B4-BE49-F238E27FC236}">
                <a16:creationId xmlns:a16="http://schemas.microsoft.com/office/drawing/2014/main" id="{5B357ED2-E4F3-42B6-A5A6-0543993A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102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52A1"/>
          </a:solidFill>
          <a:ln xmlns:a="http://schemas.openxmlformats.org/drawingml/2006/main" w="4763">
            <a:solidFill>
              <a:srgbClr val="6F52A1"/>
            </a:solidFill>
            <a:prstDash val="solid"/>
          </a:ln>
        </p:spPr>
      </p:sp>
      <p:sp>
        <p:nvSpPr>
          <p:cNvPr id="100" name="gate-0">
            <a:extLst xmlns:a="http://schemas.openxmlformats.org/drawingml/2006/main">
              <a:ext uri="{FF2B5EF4-FFF2-40B4-BE49-F238E27FC236}">
                <a16:creationId xmlns:a16="http://schemas.microsoft.com/office/drawing/2014/main" id="{3EE723CE-8A80-4045-BC76-6D52A03A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714750"/>
            <a:ext cx="32861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7145">
            <a:solidFill>
              <a:srgbClr val="6F52A1"/>
            </a:solidFill>
            <a:prstDash val="solid"/>
          </a:ln>
        </p:spPr>
      </p:sp>
      <p:sp>
        <p:nvSpPr>
          <p:cNvPr id="101" name="gate-0-a">
            <a:extLst xmlns:a="http://schemas.openxmlformats.org/drawingml/2006/main">
              <a:ext uri="{FF2B5EF4-FFF2-40B4-BE49-F238E27FC236}">
                <a16:creationId xmlns:a16="http://schemas.microsoft.com/office/drawing/2014/main" id="{3CF62C80-0051-46EE-B29A-D236C87A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8142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9 prespecified</a:t>
            </a:r>
          </a:p>
        </p:txBody>
      </p:sp>
      <p:sp>
        <p:nvSpPr>
          <p:cNvPr id="102" name="gate-0-b">
            <a:extLst xmlns:a="http://schemas.openxmlformats.org/drawingml/2006/main">
              <a:ext uri="{FF2B5EF4-FFF2-40B4-BE49-F238E27FC236}">
                <a16:creationId xmlns:a16="http://schemas.microsoft.com/office/drawing/2014/main" id="{F613BB79-6448-4BCA-866E-6D2E5D78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08622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eye-level phenotypes</a:t>
            </a:r>
          </a:p>
        </p:txBody>
      </p:sp>
      <p:sp>
        <p:nvSpPr>
          <p:cNvPr id="103" name="gate-down-0">
            <a:extLst xmlns:a="http://schemas.openxmlformats.org/drawingml/2006/main">
              <a:ext uri="{FF2B5EF4-FFF2-40B4-BE49-F238E27FC236}">
                <a16:creationId xmlns:a16="http://schemas.microsoft.com/office/drawing/2014/main" id="{6D757278-6C52-4839-842B-001E8C2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391025"/>
            <a:ext cx="1905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04" name="gate-1">
            <a:extLst xmlns:a="http://schemas.openxmlformats.org/drawingml/2006/main">
              <a:ext uri="{FF2B5EF4-FFF2-40B4-BE49-F238E27FC236}">
                <a16:creationId xmlns:a16="http://schemas.microsoft.com/office/drawing/2014/main" id="{A38E43B9-8996-42A2-A03C-D2EC64E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572000"/>
            <a:ext cx="32861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F52A1"/>
            </a:solidFill>
            <a:prstDash val="solid"/>
          </a:ln>
        </p:spPr>
      </p:sp>
      <p:sp>
        <p:nvSpPr>
          <p:cNvPr id="105" name="gate-1-a">
            <a:extLst xmlns:a="http://schemas.openxmlformats.org/drawingml/2006/main">
              <a:ext uri="{FF2B5EF4-FFF2-40B4-BE49-F238E27FC236}">
                <a16:creationId xmlns:a16="http://schemas.microsoft.com/office/drawing/2014/main" id="{22F6141A-6AC7-4C4D-A4F4-BA823CF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63867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ICC(1,1) ≥ 0.60</a:t>
            </a:r>
          </a:p>
        </p:txBody>
      </p:sp>
      <p:sp>
        <p:nvSpPr>
          <p:cNvPr id="106" name="gate-1-b">
            <a:extLst xmlns:a="http://schemas.openxmlformats.org/drawingml/2006/main">
              <a:ext uri="{FF2B5EF4-FFF2-40B4-BE49-F238E27FC236}">
                <a16:creationId xmlns:a16="http://schemas.microsoft.com/office/drawing/2014/main" id="{5298273D-19CD-4CE2-9836-D673BE8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4347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same-eye, outcome-blind</a:t>
            </a:r>
          </a:p>
        </p:txBody>
      </p:sp>
      <p:sp>
        <p:nvSpPr>
          <p:cNvPr id="107" name="gate-down-1">
            <a:extLst xmlns:a="http://schemas.openxmlformats.org/drawingml/2006/main">
              <a:ext uri="{FF2B5EF4-FFF2-40B4-BE49-F238E27FC236}">
                <a16:creationId xmlns:a16="http://schemas.microsoft.com/office/drawing/2014/main" id="{3A8439B3-6309-4F24-AF44-8CCE0E6E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248275"/>
            <a:ext cx="1905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08" name="gate-2">
            <a:extLst xmlns:a="http://schemas.openxmlformats.org/drawingml/2006/main">
              <a:ext uri="{FF2B5EF4-FFF2-40B4-BE49-F238E27FC236}">
                <a16:creationId xmlns:a16="http://schemas.microsoft.com/office/drawing/2014/main" id="{74591BD0-0F78-4D2A-B105-6840216D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429250"/>
            <a:ext cx="32861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17145">
            <a:solidFill>
              <a:srgbClr val="0B8F8B"/>
            </a:solidFill>
            <a:prstDash val="solid"/>
          </a:ln>
        </p:spPr>
      </p:sp>
      <p:sp>
        <p:nvSpPr>
          <p:cNvPr id="109" name="gate-2-a">
            <a:extLst xmlns:a="http://schemas.openxmlformats.org/drawingml/2006/main">
              <a:ext uri="{FF2B5EF4-FFF2-40B4-BE49-F238E27FC236}">
                <a16:creationId xmlns:a16="http://schemas.microsoft.com/office/drawing/2014/main" id="{2D70CC44-824E-4427-B757-9E225B4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49592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4-feature core</a:t>
            </a:r>
          </a:p>
        </p:txBody>
      </p:sp>
      <p:sp>
        <p:nvSpPr>
          <p:cNvPr id="110" name="gate-2-b">
            <a:extLst xmlns:a="http://schemas.openxmlformats.org/drawingml/2006/main">
              <a:ext uri="{FF2B5EF4-FFF2-40B4-BE49-F238E27FC236}">
                <a16:creationId xmlns:a16="http://schemas.microsoft.com/office/drawing/2014/main" id="{3900A5BC-F211-44E9-992A-D4AAB45B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80072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retained before labels</a:t>
            </a:r>
          </a:p>
        </p:txBody>
      </p:sp>
      <p:sp>
        <p:nvSpPr>
          <p:cNvPr id="111" name="gate-down-2">
            <a:extLst xmlns:a="http://schemas.openxmlformats.org/drawingml/2006/main">
              <a:ext uri="{FF2B5EF4-FFF2-40B4-BE49-F238E27FC236}">
                <a16:creationId xmlns:a16="http://schemas.microsoft.com/office/drawing/2014/main" id="{B76CB27B-D7F0-43D5-B365-EC918CDE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6105525"/>
            <a:ext cx="1905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12" name="gate-3">
            <a:extLst xmlns:a="http://schemas.openxmlformats.org/drawingml/2006/main">
              <a:ext uri="{FF2B5EF4-FFF2-40B4-BE49-F238E27FC236}">
                <a16:creationId xmlns:a16="http://schemas.microsoft.com/office/drawing/2014/main" id="{A63B43B1-CD16-4FF2-9C93-41BD3BA0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286500"/>
            <a:ext cx="32861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7145">
            <a:solidFill>
              <a:srgbClr val="41806A"/>
            </a:solidFill>
            <a:prstDash val="solid"/>
          </a:ln>
        </p:spPr>
      </p:sp>
      <p:sp>
        <p:nvSpPr>
          <p:cNvPr id="113" name="gate-3-a">
            <a:extLst xmlns:a="http://schemas.openxmlformats.org/drawingml/2006/main">
              <a:ext uri="{FF2B5EF4-FFF2-40B4-BE49-F238E27FC236}">
                <a16:creationId xmlns:a16="http://schemas.microsoft.com/office/drawing/2014/main" id="{DEEFFDDB-D785-413D-B687-CA4FE0D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35317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1806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1806A"/>
                </a:solidFill>
                <a:latin typeface="Arial"/>
                <a:ea typeface="Arial"/>
                <a:cs typeface="Arial"/>
              </a:rPr>
              <a:t>Patient vector</a:t>
            </a:r>
          </a:p>
        </p:txBody>
      </p:sp>
      <p:sp>
        <p:nvSpPr>
          <p:cNvPr id="114" name="gate-3-b">
            <a:extLst xmlns:a="http://schemas.openxmlformats.org/drawingml/2006/main">
              <a:ext uri="{FF2B5EF4-FFF2-40B4-BE49-F238E27FC236}">
                <a16:creationId xmlns:a16="http://schemas.microsoft.com/office/drawing/2014/main" id="{732781E7-5C78-470C-87D1-8985DB5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65797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bilateral grouped summary</a:t>
            </a:r>
          </a:p>
        </p:txBody>
      </p:sp>
      <p:sp>
        <p:nvSpPr>
          <p:cNvPr id="115" name="mass-to-gate">
            <a:extLst xmlns:a="http://schemas.openxmlformats.org/drawingml/2006/main">
              <a:ext uri="{FF2B5EF4-FFF2-40B4-BE49-F238E27FC236}">
                <a16:creationId xmlns:a16="http://schemas.microsoft.com/office/drawing/2014/main" id="{3EBEB055-A3C7-46E9-AA33-C8001A09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06717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8525"/>
          </a:solidFill>
          <a:ln xmlns:a="http://schemas.openxmlformats.org/drawingml/2006/main" w="4763">
            <a:solidFill>
              <a:srgbClr val="B98525"/>
            </a:solidFill>
            <a:prstDash val="solid"/>
          </a:ln>
        </p:spPr>
      </p:sp>
      <p:sp>
        <p:nvSpPr>
          <p:cNvPr id="116" name="factor-to-gate">
            <a:extLst xmlns:a="http://schemas.openxmlformats.org/drawingml/2006/main">
              <a:ext uri="{FF2B5EF4-FFF2-40B4-BE49-F238E27FC236}">
                <a16:creationId xmlns:a16="http://schemas.microsoft.com/office/drawing/2014/main" id="{31F76BEA-7448-496E-BF2A-C51DBB84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676900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4763">
            <a:solidFill>
              <a:srgbClr val="0B8F8B"/>
            </a:solidFill>
            <a:prstDash val="solid"/>
          </a:ln>
        </p:spPr>
      </p:sp>
      <p:sp>
        <p:nvSpPr>
          <p:cNvPr id="117" name="panel-c">
            <a:extLst xmlns:a="http://schemas.openxmlformats.org/drawingml/2006/main">
              <a:ext uri="{FF2B5EF4-FFF2-40B4-BE49-F238E27FC236}">
                <a16:creationId xmlns:a16="http://schemas.microsoft.com/office/drawing/2014/main" id="{B86F9CEF-2686-40D2-BBF1-8289FA00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34225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F52A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F52A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8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980E0BFA-3357-40D3-A6DC-F14E5E9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913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Four distinct evidence claims</a:t>
            </a:r>
          </a:p>
        </p:txBody>
      </p:sp>
      <p:sp>
        <p:nvSpPr>
          <p:cNvPr id="119" name="panel-c-note">
            <a:extLst xmlns:a="http://schemas.openxmlformats.org/drawingml/2006/main">
              <a:ext uri="{FF2B5EF4-FFF2-40B4-BE49-F238E27FC236}">
                <a16:creationId xmlns:a16="http://schemas.microsoft.com/office/drawing/2014/main" id="{35AF79F1-2612-45F5-8AD6-C82E3F04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Parallel interpretations, not a universal sequential checklist</a:t>
            </a:r>
          </a:p>
        </p:txBody>
      </p:sp>
      <p:sp>
        <p:nvSpPr>
          <p:cNvPr id="120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A72A4188-56B7-4AE5-9BA3-F4F6F4D8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8295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evidence-drop-0">
            <a:extLst xmlns:a="http://schemas.openxmlformats.org/drawingml/2006/main">
              <a:ext uri="{FF2B5EF4-FFF2-40B4-BE49-F238E27FC236}">
                <a16:creationId xmlns:a16="http://schemas.microsoft.com/office/drawing/2014/main" id="{315D4A74-4788-4044-992E-6F3093F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8295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evidence-arrow-0">
            <a:extLst xmlns:a="http://schemas.openxmlformats.org/drawingml/2006/main">
              <a:ext uri="{FF2B5EF4-FFF2-40B4-BE49-F238E27FC236}">
                <a16:creationId xmlns:a16="http://schemas.microsoft.com/office/drawing/2014/main" id="{3692CBFD-3148-4E80-98FA-488DF946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934325"/>
            <a:ext cx="1714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23" name="evidence-drop-1">
            <a:extLst xmlns:a="http://schemas.openxmlformats.org/drawingml/2006/main">
              <a:ext uri="{FF2B5EF4-FFF2-40B4-BE49-F238E27FC236}">
                <a16:creationId xmlns:a16="http://schemas.microsoft.com/office/drawing/2014/main" id="{C7A123D4-E82F-4968-B89A-FE9FFC49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78295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77C4FF64-9367-4C6B-BD10-6C29060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934325"/>
            <a:ext cx="1714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25" name="evidence-drop-2">
            <a:extLst xmlns:a="http://schemas.openxmlformats.org/drawingml/2006/main">
              <a:ext uri="{FF2B5EF4-FFF2-40B4-BE49-F238E27FC236}">
                <a16:creationId xmlns:a16="http://schemas.microsoft.com/office/drawing/2014/main" id="{56B9DA6A-174F-4F52-B3FE-B47A7E9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78295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190A6049-D68A-44F2-AC9A-231220AE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934325"/>
            <a:ext cx="1714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27" name="evidence-drop-3">
            <a:extLst xmlns:a="http://schemas.openxmlformats.org/drawingml/2006/main">
              <a:ext uri="{FF2B5EF4-FFF2-40B4-BE49-F238E27FC236}">
                <a16:creationId xmlns:a16="http://schemas.microsoft.com/office/drawing/2014/main" id="{16323F2E-349A-47D3-BC2C-734F5B2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78295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D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evidence-arrow-3">
            <a:extLst xmlns:a="http://schemas.openxmlformats.org/drawingml/2006/main">
              <a:ext uri="{FF2B5EF4-FFF2-40B4-BE49-F238E27FC236}">
                <a16:creationId xmlns:a16="http://schemas.microsoft.com/office/drawing/2014/main" id="{0BA62B2A-10C0-4A9A-9CEF-2E7588D7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7934325"/>
            <a:ext cx="1714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8195"/>
          </a:solidFill>
          <a:ln xmlns:a="http://schemas.openxmlformats.org/drawingml/2006/main" w="4763">
            <a:solidFill>
              <a:srgbClr val="758195"/>
            </a:solidFill>
            <a:prstDash val="solid"/>
          </a:ln>
        </p:spPr>
      </p:sp>
      <p:sp>
        <p:nvSpPr>
          <p:cNvPr id="129" name="evidence-0">
            <a:extLst xmlns:a="http://schemas.openxmlformats.org/drawingml/2006/main">
              <a:ext uri="{FF2B5EF4-FFF2-40B4-BE49-F238E27FC236}">
                <a16:creationId xmlns:a16="http://schemas.microsoft.com/office/drawing/2014/main" id="{89772593-85DF-445B-A7A6-F1893E0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29575"/>
            <a:ext cx="3533775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2F6F9F"/>
            </a:solidFill>
            <a:prstDash val="solid"/>
          </a:ln>
        </p:spPr>
      </p:sp>
      <p:sp>
        <p:nvSpPr>
          <p:cNvPr id="130" name="evidence-0-accent">
            <a:extLst xmlns:a="http://schemas.openxmlformats.org/drawingml/2006/main">
              <a:ext uri="{FF2B5EF4-FFF2-40B4-BE49-F238E27FC236}">
                <a16:creationId xmlns:a16="http://schemas.microsoft.com/office/drawing/2014/main" id="{FD07DA5E-4B83-4089-A129-A63A898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81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evidence-0-title">
            <a:extLst xmlns:a="http://schemas.openxmlformats.org/drawingml/2006/main">
              <a:ext uri="{FF2B5EF4-FFF2-40B4-BE49-F238E27FC236}">
                <a16:creationId xmlns:a16="http://schemas.microsoft.com/office/drawing/2014/main" id="{FC240A22-CF6E-4FA1-BA73-80943AED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438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32" name="evidence-0-status">
            <a:extLst xmlns:a="http://schemas.openxmlformats.org/drawingml/2006/main">
              <a:ext uri="{FF2B5EF4-FFF2-40B4-BE49-F238E27FC236}">
                <a16:creationId xmlns:a16="http://schemas.microsoft.com/office/drawing/2014/main" id="{2139AAD8-93C1-4084-BC36-31F2E4ED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8467725"/>
            <a:ext cx="11906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33" name="evidence-0-metric1">
            <a:extLst xmlns:a="http://schemas.openxmlformats.org/drawingml/2006/main">
              <a:ext uri="{FF2B5EF4-FFF2-40B4-BE49-F238E27FC236}">
                <a16:creationId xmlns:a16="http://schemas.microsoft.com/office/drawing/2014/main" id="{4E534E7D-6E4B-4953-9659-F012FAB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29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RAV mean A/V Dice 0.8256</a:t>
            </a:r>
          </a:p>
        </p:txBody>
      </p:sp>
      <p:sp>
        <p:nvSpPr>
          <p:cNvPr id="134" name="evidence-0-metric2">
            <a:extLst xmlns:a="http://schemas.openxmlformats.org/drawingml/2006/main">
              <a:ext uri="{FF2B5EF4-FFF2-40B4-BE49-F238E27FC236}">
                <a16:creationId xmlns:a16="http://schemas.microsoft.com/office/drawing/2014/main" id="{FB3A53DF-EB05-4C46-9B94-62DB2BC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10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Fundus-AVSeg ΔDice +0.0090</a:t>
            </a:r>
          </a:p>
        </p:txBody>
      </p:sp>
      <p:sp>
        <p:nvSpPr>
          <p:cNvPr id="135" name="evidence-1">
            <a:extLst xmlns:a="http://schemas.openxmlformats.org/drawingml/2006/main">
              <a:ext uri="{FF2B5EF4-FFF2-40B4-BE49-F238E27FC236}">
                <a16:creationId xmlns:a16="http://schemas.microsoft.com/office/drawing/2014/main" id="{3EA29940-16AB-4811-B012-E21D9B40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8029575"/>
            <a:ext cx="3533775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15240">
            <a:solidFill>
              <a:srgbClr val="0B8F8B"/>
            </a:solidFill>
            <a:prstDash val="solid"/>
          </a:ln>
        </p:spPr>
      </p:sp>
      <p:sp>
        <p:nvSpPr>
          <p:cNvPr id="136" name="evidence-1-accent">
            <a:extLst xmlns:a="http://schemas.openxmlformats.org/drawingml/2006/main">
              <a:ext uri="{FF2B5EF4-FFF2-40B4-BE49-F238E27FC236}">
                <a16:creationId xmlns:a16="http://schemas.microsoft.com/office/drawing/2014/main" id="{976B847C-0E28-407C-8A7F-20A961C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8181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evidence-1-title">
            <a:extLst xmlns:a="http://schemas.openxmlformats.org/drawingml/2006/main">
              <a:ext uri="{FF2B5EF4-FFF2-40B4-BE49-F238E27FC236}">
                <a16:creationId xmlns:a16="http://schemas.microsoft.com/office/drawing/2014/main" id="{F54784CE-A0B0-41D5-A199-C3B4BE4A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81438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REPEATABILITY</a:t>
            </a:r>
          </a:p>
        </p:txBody>
      </p:sp>
      <p:sp>
        <p:nvSpPr>
          <p:cNvPr id="138" name="evidence-1-status">
            <a:extLst xmlns:a="http://schemas.openxmlformats.org/drawingml/2006/main">
              <a:ext uri="{FF2B5EF4-FFF2-40B4-BE49-F238E27FC236}">
                <a16:creationId xmlns:a16="http://schemas.microsoft.com/office/drawing/2014/main" id="{D0685A8B-F0CC-4D90-B687-FCC45C41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8467725"/>
            <a:ext cx="11906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B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8F8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39" name="evidence-1-metric1">
            <a:extLst xmlns:a="http://schemas.openxmlformats.org/drawingml/2006/main">
              <a:ext uri="{FF2B5EF4-FFF2-40B4-BE49-F238E27FC236}">
                <a16:creationId xmlns:a16="http://schemas.microsoft.com/office/drawing/2014/main" id="{462FD3D4-06C0-452E-9A4A-6683485C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8829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2,359 same-eye pairs</a:t>
            </a:r>
          </a:p>
        </p:txBody>
      </p:sp>
      <p:sp>
        <p:nvSpPr>
          <p:cNvPr id="140" name="evidence-1-metric2">
            <a:extLst xmlns:a="http://schemas.openxmlformats.org/drawingml/2006/main">
              <a:ext uri="{FF2B5EF4-FFF2-40B4-BE49-F238E27FC236}">
                <a16:creationId xmlns:a16="http://schemas.microsoft.com/office/drawing/2014/main" id="{AFB5265C-785A-4C80-B9F8-34ADDF5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9210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4 of 9 phenotypes retained</a:t>
            </a:r>
          </a:p>
        </p:txBody>
      </p:sp>
      <p:sp>
        <p:nvSpPr>
          <p:cNvPr id="141" name="evidence-2">
            <a:extLst xmlns:a="http://schemas.openxmlformats.org/drawingml/2006/main">
              <a:ext uri="{FF2B5EF4-FFF2-40B4-BE49-F238E27FC236}">
                <a16:creationId xmlns:a16="http://schemas.microsoft.com/office/drawing/2014/main" id="{960EB8BB-486A-46F8-88A8-9FF7F1C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029575"/>
            <a:ext cx="3533775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BF3DE"/>
          </a:solidFill>
          <a:ln xmlns:a="http://schemas.openxmlformats.org/drawingml/2006/main" w="15240">
            <a:solidFill>
              <a:srgbClr val="B98525"/>
            </a:solidFill>
            <a:prstDash val="solid"/>
          </a:ln>
        </p:spPr>
      </p:sp>
      <p:sp>
        <p:nvSpPr>
          <p:cNvPr id="142" name="evidence-2-accent">
            <a:extLst xmlns:a="http://schemas.openxmlformats.org/drawingml/2006/main">
              <a:ext uri="{FF2B5EF4-FFF2-40B4-BE49-F238E27FC236}">
                <a16:creationId xmlns:a16="http://schemas.microsoft.com/office/drawing/2014/main" id="{9B277323-93DF-4083-A865-FF85DC7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181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evidence-2-title">
            <a:extLst xmlns:a="http://schemas.openxmlformats.org/drawingml/2006/main">
              <a:ext uri="{FF2B5EF4-FFF2-40B4-BE49-F238E27FC236}">
                <a16:creationId xmlns:a16="http://schemas.microsoft.com/office/drawing/2014/main" id="{6CAABB20-6AD7-416C-B0D7-5A7B7DF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81438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44" name="evidence-2-status">
            <a:extLst xmlns:a="http://schemas.openxmlformats.org/drawingml/2006/main">
              <a:ext uri="{FF2B5EF4-FFF2-40B4-BE49-F238E27FC236}">
                <a16:creationId xmlns:a16="http://schemas.microsoft.com/office/drawing/2014/main" id="{5A18F0E6-F546-4885-9885-0AFAECB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467725"/>
            <a:ext cx="10668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852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5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8525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45" name="evidence-2-metric1">
            <a:extLst xmlns:a="http://schemas.openxmlformats.org/drawingml/2006/main">
              <a:ext uri="{FF2B5EF4-FFF2-40B4-BE49-F238E27FC236}">
                <a16:creationId xmlns:a16="http://schemas.microsoft.com/office/drawing/2014/main" id="{C179505A-92A4-4258-A678-11C2A38B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8829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Cohort AUROC 0.866-0.996</a:t>
            </a:r>
          </a:p>
        </p:txBody>
      </p:sp>
      <p:sp>
        <p:nvSpPr>
          <p:cNvPr id="146" name="evidence-2-metric2">
            <a:extLst xmlns:a="http://schemas.openxmlformats.org/drawingml/2006/main">
              <a:ext uri="{FF2B5EF4-FFF2-40B4-BE49-F238E27FC236}">
                <a16:creationId xmlns:a16="http://schemas.microsoft.com/office/drawing/2014/main" id="{5E35DE45-02AA-4F09-924F-B8E86B5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9210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Naive pooling prohibited</a:t>
            </a:r>
          </a:p>
        </p:txBody>
      </p:sp>
      <p:sp>
        <p:nvSpPr>
          <p:cNvPr id="147" name="evidence-3">
            <a:extLst xmlns:a="http://schemas.openxmlformats.org/drawingml/2006/main">
              <a:ext uri="{FF2B5EF4-FFF2-40B4-BE49-F238E27FC236}">
                <a16:creationId xmlns:a16="http://schemas.microsoft.com/office/drawing/2014/main" id="{C2B04687-12F2-4B6A-93B0-1A32DFC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8029575"/>
            <a:ext cx="3533775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BEDEB"/>
          </a:solidFill>
          <a:ln xmlns:a="http://schemas.openxmlformats.org/drawingml/2006/main" w="15240">
            <a:solidFill>
              <a:srgbClr val="B75D53"/>
            </a:solidFill>
            <a:prstDash val="solid"/>
          </a:ln>
        </p:spPr>
      </p:sp>
      <p:sp>
        <p:nvSpPr>
          <p:cNvPr id="148" name="evidence-3-accent">
            <a:extLst xmlns:a="http://schemas.openxmlformats.org/drawingml/2006/main">
              <a:ext uri="{FF2B5EF4-FFF2-40B4-BE49-F238E27FC236}">
                <a16:creationId xmlns:a16="http://schemas.microsoft.com/office/drawing/2014/main" id="{5B1FE164-98BE-4E0E-B9AD-726F984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8181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D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evidence-3-title">
            <a:extLst xmlns:a="http://schemas.openxmlformats.org/drawingml/2006/main">
              <a:ext uri="{FF2B5EF4-FFF2-40B4-BE49-F238E27FC236}">
                <a16:creationId xmlns:a16="http://schemas.microsoft.com/office/drawing/2014/main" id="{0E732E85-E0BE-4DCA-913B-4E34D9A5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81438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5D5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5D53"/>
                </a:solidFill>
                <a:latin typeface="Arial"/>
                <a:ea typeface="Arial"/>
                <a:cs typeface="Arial"/>
              </a:rPr>
              <a:t>CLINICAL INCREMENT</a:t>
            </a:r>
          </a:p>
        </p:txBody>
      </p:sp>
      <p:sp>
        <p:nvSpPr>
          <p:cNvPr id="150" name="evidence-3-status">
            <a:extLst xmlns:a="http://schemas.openxmlformats.org/drawingml/2006/main">
              <a:ext uri="{FF2B5EF4-FFF2-40B4-BE49-F238E27FC236}">
                <a16:creationId xmlns:a16="http://schemas.microsoft.com/office/drawing/2014/main" id="{D166CB0C-CA27-4FDD-BAE7-79C0787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8467725"/>
            <a:ext cx="13335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5D53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5D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5D53"/>
                </a:solidFill>
                <a:latin typeface="Arial"/>
                <a:ea typeface="Arial"/>
                <a:cs typeface="Arial"/>
              </a:rPr>
              <a:t>UNCONFIRMED</a:t>
            </a:r>
          </a:p>
        </p:txBody>
      </p:sp>
      <p:sp>
        <p:nvSpPr>
          <p:cNvPr id="151" name="evidence-3-metric1">
            <a:extLst xmlns:a="http://schemas.openxmlformats.org/drawingml/2006/main">
              <a:ext uri="{FF2B5EF4-FFF2-40B4-BE49-F238E27FC236}">
                <a16:creationId xmlns:a16="http://schemas.microsoft.com/office/drawing/2014/main" id="{50D537E7-1195-4288-B61B-F84D3712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8829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mBRSET ΔAUROC +0.00188</a:t>
            </a:r>
          </a:p>
        </p:txBody>
      </p:sp>
      <p:sp>
        <p:nvSpPr>
          <p:cNvPr id="152" name="evidence-3-metric2">
            <a:extLst xmlns:a="http://schemas.openxmlformats.org/drawingml/2006/main">
              <a:ext uri="{FF2B5EF4-FFF2-40B4-BE49-F238E27FC236}">
                <a16:creationId xmlns:a16="http://schemas.microsoft.com/office/drawing/2014/main" id="{0BDAB8D8-432A-485F-A63D-439E3E45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9210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274"/>
                </a:solidFill>
                <a:latin typeface="Arial"/>
                <a:ea typeface="Arial"/>
                <a:cs typeface="Arial"/>
              </a:rPr>
              <a:t>No independent high-res cohort</a:t>
            </a:r>
          </a:p>
        </p:txBody>
      </p:sp>
    </p:spTree>
    <p:extLst>
      <p:ext uri="{BB962C8B-B14F-4D97-AF65-F5344CB8AC3E}">
        <p14:creationId xmlns:p14="http://schemas.microsoft.com/office/powerpoint/2010/main" val="2008451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2026-08-27T02:01:25.8550000Z</dcterms:created>
  <dcterms:modified xsi:type="dcterms:W3CDTF">2026-08-27T02:01:25.8550000Z</dcterms:modified>
</coreProperties>
</file>